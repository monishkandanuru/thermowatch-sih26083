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374d473e0a4587" /><Relationship Type="http://schemas.openxmlformats.org/officeDocument/2006/relationships/extended-properties" Target="/docProps/app.xml" Id="R5540856d5a7644ab" /><Relationship Type="http://schemas.openxmlformats.org/officeDocument/2006/relationships/officeDocument" Target="/ppt/presentation.xml" Id="Rf61c5c38d22148c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d18e6986ac044cc"/>
  </p:sldMasterIdLst>
  <p:notesMasterIdLst>
    <p:notesMasterId xmlns:r="http://schemas.openxmlformats.org/officeDocument/2006/relationships" r:id="R6574df120b6343ca"/>
  </p:notesMasterIdLst>
  <p:sldIdLst>
    <p:sldId xmlns:r="http://schemas.openxmlformats.org/officeDocument/2006/relationships" id="256" r:id="R9421915daae3434d"/>
    <p:sldId xmlns:r="http://schemas.openxmlformats.org/officeDocument/2006/relationships" id="257" r:id="R72d1675e109e4d0e"/>
    <p:sldId xmlns:r="http://schemas.openxmlformats.org/officeDocument/2006/relationships" id="258" r:id="R135f3f1fe83a40db"/>
    <p:sldId xmlns:r="http://schemas.openxmlformats.org/officeDocument/2006/relationships" id="259" r:id="Rff75c929bb9548d1"/>
    <p:sldId xmlns:r="http://schemas.openxmlformats.org/officeDocument/2006/relationships" id="260" r:id="R74e466735a124d88"/>
    <p:sldId xmlns:r="http://schemas.openxmlformats.org/officeDocument/2006/relationships" id="261" r:id="R8a18536986714241"/>
  </p:sldIdLst>
  <p:sldSz cx="12192000" cy="6858000"/>
  <p:notesSz cx="6858000" cy="9144000"/>
  <p:embeddedFontLst>
    <p:embeddedFont>
      <p:font typeface="OpenAI Sans"/>
      <p:regular xmlns:r="http://schemas.openxmlformats.org/officeDocument/2006/relationships" r:id="Rbd5b276194334fa9"/>
      <p:bold xmlns:r="http://schemas.openxmlformats.org/officeDocument/2006/relationships" r:id="Rc19d21d0fb9b406d"/>
      <p:italic xmlns:r="http://schemas.openxmlformats.org/officeDocument/2006/relationships" r:id="R99229d8e6ec446e0"/>
      <p:boldItalic xmlns:r="http://schemas.openxmlformats.org/officeDocument/2006/relationships" r:id="R120942b9eb17445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c84f5e9e9414c41" /><Relationship Type="http://schemas.openxmlformats.org/officeDocument/2006/relationships/slideMaster" Target="/ppt/slideMasters/slideMaster1.xml" Id="R3d18e6986ac044cc" /><Relationship Type="http://schemas.openxmlformats.org/officeDocument/2006/relationships/notesMaster" Target="/ppt/notesMasters/notesMaster1.xml" Id="R6574df120b6343ca" /><Relationship Type="http://schemas.openxmlformats.org/officeDocument/2006/relationships/presProps" Target="/ppt/presProps.xml" Id="R5d0f0fbb95174e27" /><Relationship Type="http://schemas.openxmlformats.org/officeDocument/2006/relationships/viewProps" Target="/ppt/viewProps.xml" Id="Rbc7a1c858c08452c" /><Relationship Type="http://schemas.openxmlformats.org/officeDocument/2006/relationships/tableStyles" Target="/ppt/tableStyles.xml" Id="Rb24e75521fc844b4" /><Relationship Type="http://schemas.openxmlformats.org/officeDocument/2006/relationships/font" Target="/ppt/fonts/font.dat" Id="Rbd5b276194334fa9" /><Relationship Type="http://schemas.openxmlformats.org/officeDocument/2006/relationships/font" Target="/ppt/fonts/font2.dat" Id="Rc19d21d0fb9b406d" /><Relationship Type="http://schemas.openxmlformats.org/officeDocument/2006/relationships/font" Target="/ppt/fonts/font3.dat" Id="R99229d8e6ec446e0" /><Relationship Type="http://schemas.openxmlformats.org/officeDocument/2006/relationships/font" Target="/ppt/fonts/font4.dat" Id="R120942b9eb174459" /><Relationship Type="http://schemas.openxmlformats.org/officeDocument/2006/relationships/slide" Target="/ppt/slides/slide1.xml" Id="R9421915daae3434d" /><Relationship Type="http://schemas.openxmlformats.org/officeDocument/2006/relationships/slide" Target="/ppt/slides/slide2.xml" Id="R72d1675e109e4d0e" /><Relationship Type="http://schemas.openxmlformats.org/officeDocument/2006/relationships/slide" Target="/ppt/slides/slide3.xml" Id="R135f3f1fe83a40db" /><Relationship Type="http://schemas.openxmlformats.org/officeDocument/2006/relationships/slide" Target="/ppt/slides/slide4.xml" Id="Rff75c929bb9548d1" /><Relationship Type="http://schemas.openxmlformats.org/officeDocument/2006/relationships/slide" Target="/ppt/slides/slide5.xml" Id="R74e466735a124d88" /><Relationship Type="http://schemas.openxmlformats.org/officeDocument/2006/relationships/slide" Target="/ppt/slides/slide6.xml" Id="R8a1853698671424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86c2ea23834f7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593a4fcff544655" /><Relationship Type="http://schemas.openxmlformats.org/officeDocument/2006/relationships/notesMaster" Target="/ppt/notesMasters/notesMaster1.xml" Id="Re1203ce6358b4f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d43de70dbe402e" /><Relationship Type="http://schemas.openxmlformats.org/officeDocument/2006/relationships/notesMaster" Target="/ppt/notesMasters/notesMaster1.xml" Id="R08d17a2d14c7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e6757da8c146d4" /><Relationship Type="http://schemas.openxmlformats.org/officeDocument/2006/relationships/notesMaster" Target="/ppt/notesMasters/notesMaster1.xml" Id="R4eb900ca4ed143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fc9372a43604894" /><Relationship Type="http://schemas.openxmlformats.org/officeDocument/2006/relationships/notesMaster" Target="/ppt/notesMasters/notesMaster1.xml" Id="R2d06c21313344f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71b48394fc44a6" /><Relationship Type="http://schemas.openxmlformats.org/officeDocument/2006/relationships/notesMaster" Target="/ppt/notesMasters/notesMaster1.xml" Id="R9c74357dabab450c"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45803fd56f40e0" /><Relationship Type="http://schemas.openxmlformats.org/officeDocument/2006/relationships/notesMaster" Target="/ppt/notesMasters/notesMaster1.xml" Id="R24bf4b2e6a6f4e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ThermoWatch addresses SIH26083 with a working software prototype for extreme heatwave early warning. Before submission, replace the blank Team ID with the registered portal ID.</a:t>
            </a:r>
            <a:endParaRPr/>
          </a:p>
          <a:p xmlns:a="http://schemas.openxmlformats.org/drawingml/2006/main">
            <a:r>
              <a:t/>
            </a:r>
            <a:endParaRPr/>
          </a:p>
          <a:p xmlns:a="http://schemas.openxmlformats.org/drawingml/2006/main">
            <a:r>
              <a:t>Source: SIH idea presentation format supplied by the team. Product evidence: ThermoWatch live application.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Proposed solution: ThermoWatch gathers live weather, calculates transparent HTSI, runs the trained risk classifier, and displays current and forecast risk. The same interface ranks districts, identifies vulnerable groups, suggests actions and records alerts or incidents. Kannada and the local assistant improve access. Browser notification works today. SMS and WhatsApp are demonstration previews and do not contact real recipients.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ThermoWatch live application and project guide.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approach: Open-Meteo supplies current weather and forecasts. The system derives fourteen features, calculates HTSI, and runs a class-balanced multinomial logistic regression model. It returns a risk class, calibrated confidence, High-plus probability and feature contributions. We trained on 2022 and 2023, calibrated on 2024, and tested on untouched 2025 data. The model reached 93.6 percent accuracy and 95 percent High-plus recall across 58,400 test hours. Proxy labels remain an explicit limitation.</a:t>
            </a:r>
          </a:p>
          <a:p xmlns:a="http://schemas.openxmlformats.org/drawingml/2006/main">
            <a:r>
              <a:t/>
            </a:r>
          </a:p>
          <a:p xmlns:a="http://schemas.openxmlformats.org/drawingml/2006/main">
            <a:r>
              <a:t>Sources: ml/artifacts/data-manifest.json and validation-report.json.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Feasibility: The working prototype already covers the core flow from weather data to response. It runs in a browser, monitors thirty cities, stores operational history, and can display a local browser notification. The main risks are external API availability, proxy labels, public demo misuse and the lack of field testing. Fallback data, honest disclosures, rate limiting and demo-only external channels reduce these risks. Production deployment would add verified official labels, authority approval and field testing.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ThermoWatch live application, project guide and source code.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Impact: ThermoWatch supports district authorities, health and emergency teams, field workers, community groups and residents. It can improve the timing of heat-risk decisions, focus attention on vulnerable people, and give responders one view of forecasts, locations and recorded actions. The system can scale by adding official labels, more districts, approved notification partners and field-validated response protocols. We present these as expected benefits of the prototype, not measured public-health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ThermoWatch problem framing and working prototype.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References: Open-Meteo supplies live and historical weather. OpenStreetMap and Overpass supply nearby facility locations. The India boundary source uses CC BY 4.0 geometry. The repository contains the model coefficients, validation report, replay cases, data manifest and checksums required to reproduce the engineering evidence. The core limitation remains visible: model labels are HTSI-derived proxy classes and do not represent official IMD events or medical outcomes.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URLs are shown on the slide. SIH structure follows the supplied six-slide idea presentation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3565d202274aa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c1e41645d9423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a951655f6b457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ffba4fbd384f8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4f0bccf981f4d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1cb63c4b51463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ec02eee91b54ea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9872a9e22b47a5"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b1e1278e914af0" /><Relationship Type="http://schemas.openxmlformats.org/officeDocument/2006/relationships/slideLayout" Target="/ppt/slideLayouts/slideLayout1.xml" Id="R0484485cffb04e4e" /><Relationship Type="http://schemas.openxmlformats.org/officeDocument/2006/relationships/slideLayout" Target="/ppt/slideLayouts/slideLayout2.xml" Id="R3930b12f50f8468b" /><Relationship Type="http://schemas.openxmlformats.org/officeDocument/2006/relationships/slideLayout" Target="/ppt/slideLayouts/slideLayout3.xml" Id="R3bc09b7c037f47ea" /><Relationship Type="http://schemas.openxmlformats.org/officeDocument/2006/relationships/slideLayout" Target="/ppt/slideLayouts/slideLayout4.xml" Id="Rcb8ec37f89a444d6" /><Relationship Type="http://schemas.openxmlformats.org/officeDocument/2006/relationships/slideLayout" Target="/ppt/slideLayouts/slideLayout5.xml" Id="R7c9f89c3b0cb439e" /><Relationship Type="http://schemas.openxmlformats.org/officeDocument/2006/relationships/slideLayout" Target="/ppt/slideLayouts/slideLayout6.xml" Id="Rd91015a41c7842b7" /><Relationship Type="http://schemas.openxmlformats.org/officeDocument/2006/relationships/slideLayout" Target="/ppt/slideLayouts/slideLayout7.xml" Id="R6e3398c69d514b40" /><Relationship Type="http://schemas.openxmlformats.org/officeDocument/2006/relationships/slideLayout" Target="/ppt/slideLayouts/slideLayout8.xml" Id="R9d7807cbd99b45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0484485cffb04e4e"/>
    <p:sldLayoutId xmlns:r="http://schemas.openxmlformats.org/officeDocument/2006/relationships" id="2147483650" r:id="R3930b12f50f8468b"/>
    <p:sldLayoutId xmlns:r="http://schemas.openxmlformats.org/officeDocument/2006/relationships" id="2147483651" r:id="R3bc09b7c037f47ea"/>
    <p:sldLayoutId xmlns:r="http://schemas.openxmlformats.org/officeDocument/2006/relationships" id="2147483652" r:id="Rcb8ec37f89a444d6"/>
    <p:sldLayoutId xmlns:r="http://schemas.openxmlformats.org/officeDocument/2006/relationships" id="2147483653" r:id="R7c9f89c3b0cb439e"/>
    <p:sldLayoutId xmlns:r="http://schemas.openxmlformats.org/officeDocument/2006/relationships" id="2147483654" r:id="Rd91015a41c7842b7"/>
    <p:sldLayoutId xmlns:r="http://schemas.openxmlformats.org/officeDocument/2006/relationships" id="2147483655" r:id="R6e3398c69d514b40"/>
    <p:sldLayoutId xmlns:r="http://schemas.openxmlformats.org/officeDocument/2006/relationships" id="2147483656" r:id="R9d7807cbd99b459d"/>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1c3fa88eeb49d8" /><Relationship Type="http://schemas.openxmlformats.org/officeDocument/2006/relationships/image" Target="/ppt/media/image.png" Id="Rc66fe55290da4593" /><Relationship Type="http://schemas.openxmlformats.org/officeDocument/2006/relationships/image" Target="/ppt/media/image2.png" Id="R5f9f629ee22e4812" /><Relationship Type="http://schemas.openxmlformats.org/officeDocument/2006/relationships/notesSlide" Target="/ppt/notesSlides/notesSlide1.xml" Id="R651fd19516fc40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4b3e3525ad74cc8" /><Relationship Type="http://schemas.openxmlformats.org/officeDocument/2006/relationships/image" Target="/ppt/media/image3.png" Id="R818d5924b8aa4e48" /><Relationship Type="http://schemas.openxmlformats.org/officeDocument/2006/relationships/notesSlide" Target="/ppt/notesSlides/notesSlide2.xml" Id="R41862bcfb52e43d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db5806d769482c" /><Relationship Type="http://schemas.openxmlformats.org/officeDocument/2006/relationships/image" Target="/ppt/media/image4.png" Id="R5d690fce8bfd497b" /><Relationship Type="http://schemas.openxmlformats.org/officeDocument/2006/relationships/notesSlide" Target="/ppt/notesSlides/notesSlide3.xml" Id="R76c0326c3c2042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23827b49124f81" /><Relationship Type="http://schemas.openxmlformats.org/officeDocument/2006/relationships/image" Target="/ppt/media/image5.png" Id="Rf0eabd6ee89241be" /><Relationship Type="http://schemas.openxmlformats.org/officeDocument/2006/relationships/notesSlide" Target="/ppt/notesSlides/notesSlide4.xml" Id="Rde639868e86a43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347afa292324696" /><Relationship Type="http://schemas.openxmlformats.org/officeDocument/2006/relationships/image" Target="/ppt/media/image6.png" Id="Re781bdbf6efa400d" /><Relationship Type="http://schemas.openxmlformats.org/officeDocument/2006/relationships/notesSlide" Target="/ppt/notesSlides/notesSlide5.xml" Id="R685ad31a84ea49d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bddec16c1b4aad" /><Relationship Type="http://schemas.openxmlformats.org/officeDocument/2006/relationships/notesSlide" Target="/ppt/notesSlides/notesSlide6.xml" Id="R6879f773b8344f3f" /></Relationships>
</file>

<file path=ppt/slides/slide1.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26BF0F4-869A-4703-B6A3-61722AC491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5050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1AB2E0-6FA6-4997-8AD2-953D8712F423}"/>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08172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586915C-DD3A-47B8-884B-9B34389C825E}"/>
              </a:ext>
            </a:extLst>
          </p:cNvPr>
          <p:cNvSpPr>
            <a:spLocks xmlns:a="http://schemas.openxmlformats.org/drawingml/2006/main" noGrp="1"/>
          </p:cNvSpPr>
          <p:nvPr/>
        </p:nvSpPr>
        <p:spPr>
          <a:xfrm xmlns:a="http://schemas.openxmlformats.org/drawingml/2006/main">
            <a:off x="514350" y="400050"/>
            <a:ext cx="609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1C"/>
                </a:solidFill>
                <a:latin typeface="Helvetica Neue"/>
                <a:ea typeface="Helvetica Neue"/>
                <a:cs typeface="Helvetica Neue"/>
              </a:defRPr>
            </a:pPr>
            <a:r>
              <a:rPr sz="1350" b="1">
                <a:solidFill>
                  <a:srgbClr val="FF9F1C"/>
                </a:solidFill>
                <a:latin typeface="Helvetica Neue"/>
                <a:ea typeface="Helvetica Neue"/>
                <a:cs typeface="Helvetica Neue"/>
              </a:rPr>
              <a:t>SMART INDIA HACKATHON</a:t>
            </a:r>
          </a:p>
        </p:txBody>
      </p:sp>
      <p:sp>
        <p:nvSpPr>
          <p:cNvPr id="4" name="">
            <a:extLst xmlns:a="http://schemas.openxmlformats.org/drawingml/2006/main">
              <a:ext uri="{FF2B5EF4-FFF2-40B4-BE49-F238E27FC236}">
                <a16:creationId xmlns:a16="http://schemas.microsoft.com/office/drawing/2014/main" id="{A9F5A1DD-7A56-4BB5-9D2A-4A81968ABE5F}"/>
              </a:ext>
            </a:extLst>
          </p:cNvPr>
          <p:cNvSpPr>
            <a:spLocks xmlns:a="http://schemas.openxmlformats.org/drawingml/2006/main" noGrp="1"/>
          </p:cNvSpPr>
          <p:nvPr/>
        </p:nvSpPr>
        <p:spPr>
          <a:xfrm xmlns:a="http://schemas.openxmlformats.org/drawingml/2006/main">
            <a:off x="514350" y="1009650"/>
            <a:ext cx="6191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74"/>
          </a:bodyPr>
          <a:lstStyle xmlns:a="http://schemas.openxmlformats.org/drawingml/2006/main"/>
          <a:p xmlns:a="http://schemas.openxmlformats.org/drawingml/2006/main">
            <a:pPr algn="l">
              <a:defRPr sz="4650" b="1">
                <a:solidFill>
                  <a:srgbClr val="F8FAFC"/>
                </a:solidFill>
                <a:latin typeface="Helvetica Neue"/>
                <a:ea typeface="Helvetica Neue"/>
                <a:cs typeface="Helvetica Neue"/>
              </a:defRPr>
            </a:pPr>
            <a:r>
              <a:rPr sz="4650" b="1">
                <a:solidFill>
                  <a:srgbClr val="F8FAFC"/>
                </a:solidFill>
                <a:latin typeface="Helvetica Neue"/>
                <a:ea typeface="Helvetica Neue"/>
                <a:cs typeface="Helvetica Neue"/>
              </a:rPr>
              <a:t>ThermoWatch</a:t>
            </a:r>
          </a:p>
        </p:txBody>
      </p:sp>
      <p:sp>
        <p:nvSpPr>
          <p:cNvPr id="5" name="">
            <a:extLst xmlns:a="http://schemas.openxmlformats.org/drawingml/2006/main">
              <a:ext uri="{FF2B5EF4-FFF2-40B4-BE49-F238E27FC236}">
                <a16:creationId xmlns:a16="http://schemas.microsoft.com/office/drawing/2014/main" id="{337C1535-2AD7-475A-AF61-744BEB65A53F}"/>
              </a:ext>
            </a:extLst>
          </p:cNvPr>
          <p:cNvSpPr>
            <a:spLocks xmlns:a="http://schemas.openxmlformats.org/drawingml/2006/main" noGrp="1"/>
          </p:cNvSpPr>
          <p:nvPr/>
        </p:nvSpPr>
        <p:spPr>
          <a:xfrm xmlns:a="http://schemas.openxmlformats.org/drawingml/2006/main">
            <a:off x="514350" y="1809750"/>
            <a:ext cx="6191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8FAFC"/>
                </a:solidFill>
                <a:latin typeface="Helvetica Neue"/>
                <a:ea typeface="Helvetica Neue"/>
                <a:cs typeface="Helvetica Neue"/>
              </a:defRPr>
            </a:pPr>
            <a:r>
              <a:rPr sz="2700" b="1">
                <a:solidFill>
                  <a:srgbClr val="F8FAFC"/>
                </a:solidFill>
                <a:latin typeface="Helvetica Neue"/>
                <a:ea typeface="Helvetica Neue"/>
                <a:cs typeface="Helvetica Neue"/>
              </a:rPr>
              <a:t>Extreme heatwave early warning</a:t>
            </a:r>
          </a:p>
        </p:txBody>
      </p:sp>
      <p:sp>
        <p:nvSpPr>
          <p:cNvPr id="6" name="">
            <a:extLst xmlns:a="http://schemas.openxmlformats.org/drawingml/2006/main">
              <a:ext uri="{FF2B5EF4-FFF2-40B4-BE49-F238E27FC236}">
                <a16:creationId xmlns:a16="http://schemas.microsoft.com/office/drawing/2014/main" id="{B0BC1D7B-597C-4A24-B7EE-CD0694C58291}"/>
              </a:ext>
            </a:extLst>
          </p:cNvPr>
          <p:cNvSpPr>
            <a:spLocks xmlns:a="http://schemas.openxmlformats.org/drawingml/2006/main" noGrp="1"/>
          </p:cNvSpPr>
          <p:nvPr/>
        </p:nvSpPr>
        <p:spPr>
          <a:xfrm xmlns:a="http://schemas.openxmlformats.org/drawingml/2006/main">
            <a:off x="514350" y="2447925"/>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0">
                <a:solidFill>
                  <a:srgbClr val="A6AFBD"/>
                </a:solidFill>
                <a:latin typeface="Helvetica Neue"/>
                <a:ea typeface="Helvetica Neue"/>
                <a:cs typeface="Helvetica Neue"/>
              </a:defRPr>
            </a:pPr>
            <a:r>
              <a:rPr sz="1725" b="0">
                <a:solidFill>
                  <a:srgbClr val="A6AFBD"/>
                </a:solidFill>
                <a:latin typeface="Helvetica Neue"/>
                <a:ea typeface="Helvetica Neue"/>
                <a:cs typeface="Helvetica Neue"/>
              </a:rPr>
              <a:t>Live risk prediction, spatial priority and response support</a:t>
            </a:r>
          </a:p>
        </p:txBody>
      </p:sp>
      <p:sp>
        <p:nvSpPr>
          <p:cNvPr id="7" name="">
            <a:extLst xmlns:a="http://schemas.openxmlformats.org/drawingml/2006/main">
              <a:ext uri="{FF2B5EF4-FFF2-40B4-BE49-F238E27FC236}">
                <a16:creationId xmlns:a16="http://schemas.microsoft.com/office/drawing/2014/main" id="{DE4DFF53-CCBD-4400-8BC1-A051B76B6062}"/>
              </a:ext>
            </a:extLst>
          </p:cNvPr>
          <p:cNvSpPr>
            <a:spLocks xmlns:a="http://schemas.openxmlformats.org/drawingml/2006/main" noGrp="1"/>
          </p:cNvSpPr>
          <p:nvPr/>
        </p:nvSpPr>
        <p:spPr>
          <a:xfrm xmlns:a="http://schemas.openxmlformats.org/drawingml/2006/main">
            <a:off x="514350" y="3248025"/>
            <a:ext cx="5905500" cy="9525"/>
          </a:xfrm>
          <a:prstGeom xmlns:a="http://schemas.openxmlformats.org/drawingml/2006/main" prst="rect">
            <a:avLst/>
          </a:prstGeom>
          <a:solidFill xmlns:a="http://schemas.openxmlformats.org/drawingml/2006/main">
            <a:srgbClr val="34384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A3C03B8-7AC7-4DB2-A322-70910777A2A2}"/>
              </a:ext>
            </a:extLst>
          </p:cNvPr>
          <p:cNvSpPr>
            <a:spLocks xmlns:a="http://schemas.openxmlformats.org/drawingml/2006/main" noGrp="1"/>
          </p:cNvSpPr>
          <p:nvPr/>
        </p:nvSpPr>
        <p:spPr>
          <a:xfrm xmlns:a="http://schemas.openxmlformats.org/drawingml/2006/main">
            <a:off x="514350" y="35147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PROBLEM STATEMENT ID</a:t>
            </a:r>
          </a:p>
        </p:txBody>
      </p:sp>
      <p:sp>
        <p:nvSpPr>
          <p:cNvPr id="9" name="">
            <a:extLst xmlns:a="http://schemas.openxmlformats.org/drawingml/2006/main">
              <a:ext uri="{FF2B5EF4-FFF2-40B4-BE49-F238E27FC236}">
                <a16:creationId xmlns:a16="http://schemas.microsoft.com/office/drawing/2014/main" id="{5E45BA63-5C45-4852-B41D-90E58540A8AB}"/>
              </a:ext>
            </a:extLst>
          </p:cNvPr>
          <p:cNvSpPr>
            <a:spLocks xmlns:a="http://schemas.openxmlformats.org/drawingml/2006/main" noGrp="1"/>
          </p:cNvSpPr>
          <p:nvPr/>
        </p:nvSpPr>
        <p:spPr>
          <a:xfrm xmlns:a="http://schemas.openxmlformats.org/drawingml/2006/main">
            <a:off x="2676525" y="34956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SIH26083</a:t>
            </a:r>
          </a:p>
        </p:txBody>
      </p:sp>
      <p:sp>
        <p:nvSpPr>
          <p:cNvPr id="10" name="">
            <a:extLst xmlns:a="http://schemas.openxmlformats.org/drawingml/2006/main">
              <a:ext uri="{FF2B5EF4-FFF2-40B4-BE49-F238E27FC236}">
                <a16:creationId xmlns:a16="http://schemas.microsoft.com/office/drawing/2014/main" id="{A90E79E5-6F2D-4DE5-8D0E-D67FAD192D2D}"/>
              </a:ext>
            </a:extLst>
          </p:cNvPr>
          <p:cNvSpPr>
            <a:spLocks xmlns:a="http://schemas.openxmlformats.org/drawingml/2006/main" noGrp="1"/>
          </p:cNvSpPr>
          <p:nvPr/>
        </p:nvSpPr>
        <p:spPr>
          <a:xfrm xmlns:a="http://schemas.openxmlformats.org/drawingml/2006/main">
            <a:off x="514350" y="39528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PROBLEM STATEMENT TITLE</a:t>
            </a:r>
          </a:p>
        </p:txBody>
      </p:sp>
      <p:sp>
        <p:nvSpPr>
          <p:cNvPr id="11" name="">
            <a:extLst xmlns:a="http://schemas.openxmlformats.org/drawingml/2006/main">
              <a:ext uri="{FF2B5EF4-FFF2-40B4-BE49-F238E27FC236}">
                <a16:creationId xmlns:a16="http://schemas.microsoft.com/office/drawing/2014/main" id="{E82E9A2C-8FCD-4943-9B5F-98980490E11D}"/>
              </a:ext>
            </a:extLst>
          </p:cNvPr>
          <p:cNvSpPr>
            <a:spLocks xmlns:a="http://schemas.openxmlformats.org/drawingml/2006/main" noGrp="1"/>
          </p:cNvSpPr>
          <p:nvPr/>
        </p:nvSpPr>
        <p:spPr>
          <a:xfrm xmlns:a="http://schemas.openxmlformats.org/drawingml/2006/main">
            <a:off x="2676525" y="39338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Extreme Heatwave Early Warning</a:t>
            </a:r>
          </a:p>
        </p:txBody>
      </p:sp>
      <p:sp>
        <p:nvSpPr>
          <p:cNvPr id="12" name="">
            <a:extLst xmlns:a="http://schemas.openxmlformats.org/drawingml/2006/main">
              <a:ext uri="{FF2B5EF4-FFF2-40B4-BE49-F238E27FC236}">
                <a16:creationId xmlns:a16="http://schemas.microsoft.com/office/drawing/2014/main" id="{587A86BA-E3C4-432C-BE50-4F73BF364038}"/>
              </a:ext>
            </a:extLst>
          </p:cNvPr>
          <p:cNvSpPr>
            <a:spLocks xmlns:a="http://schemas.openxmlformats.org/drawingml/2006/main" noGrp="1"/>
          </p:cNvSpPr>
          <p:nvPr/>
        </p:nvSpPr>
        <p:spPr>
          <a:xfrm xmlns:a="http://schemas.openxmlformats.org/drawingml/2006/main">
            <a:off x="514350" y="43910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THEME</a:t>
            </a:r>
          </a:p>
        </p:txBody>
      </p:sp>
      <p:sp>
        <p:nvSpPr>
          <p:cNvPr id="13" name="">
            <a:extLst xmlns:a="http://schemas.openxmlformats.org/drawingml/2006/main">
              <a:ext uri="{FF2B5EF4-FFF2-40B4-BE49-F238E27FC236}">
                <a16:creationId xmlns:a16="http://schemas.microsoft.com/office/drawing/2014/main" id="{C8AC2B54-2191-4327-9A6C-27558D7A6C75}"/>
              </a:ext>
            </a:extLst>
          </p:cNvPr>
          <p:cNvSpPr>
            <a:spLocks xmlns:a="http://schemas.openxmlformats.org/drawingml/2006/main" noGrp="1"/>
          </p:cNvSpPr>
          <p:nvPr/>
        </p:nvSpPr>
        <p:spPr>
          <a:xfrm xmlns:a="http://schemas.openxmlformats.org/drawingml/2006/main">
            <a:off x="2676525" y="43719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Disaster Management</a:t>
            </a:r>
          </a:p>
        </p:txBody>
      </p:sp>
      <p:sp>
        <p:nvSpPr>
          <p:cNvPr id="14" name="">
            <a:extLst xmlns:a="http://schemas.openxmlformats.org/drawingml/2006/main">
              <a:ext uri="{FF2B5EF4-FFF2-40B4-BE49-F238E27FC236}">
                <a16:creationId xmlns:a16="http://schemas.microsoft.com/office/drawing/2014/main" id="{936E1860-921F-490F-AA9B-866E0D28DE1F}"/>
              </a:ext>
            </a:extLst>
          </p:cNvPr>
          <p:cNvSpPr>
            <a:spLocks xmlns:a="http://schemas.openxmlformats.org/drawingml/2006/main" noGrp="1"/>
          </p:cNvSpPr>
          <p:nvPr/>
        </p:nvSpPr>
        <p:spPr>
          <a:xfrm xmlns:a="http://schemas.openxmlformats.org/drawingml/2006/main">
            <a:off x="514350" y="48291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PS CATEGORY</a:t>
            </a:r>
          </a:p>
        </p:txBody>
      </p:sp>
      <p:sp>
        <p:nvSpPr>
          <p:cNvPr id="15" name="">
            <a:extLst xmlns:a="http://schemas.openxmlformats.org/drawingml/2006/main">
              <a:ext uri="{FF2B5EF4-FFF2-40B4-BE49-F238E27FC236}">
                <a16:creationId xmlns:a16="http://schemas.microsoft.com/office/drawing/2014/main" id="{C1115103-5FCE-49A4-956D-50CD24E9ED29}"/>
              </a:ext>
            </a:extLst>
          </p:cNvPr>
          <p:cNvSpPr>
            <a:spLocks xmlns:a="http://schemas.openxmlformats.org/drawingml/2006/main" noGrp="1"/>
          </p:cNvSpPr>
          <p:nvPr/>
        </p:nvSpPr>
        <p:spPr>
          <a:xfrm xmlns:a="http://schemas.openxmlformats.org/drawingml/2006/main">
            <a:off x="2676525" y="48101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Software</a:t>
            </a:r>
          </a:p>
        </p:txBody>
      </p:sp>
      <p:sp>
        <p:nvSpPr>
          <p:cNvPr id="16" name="">
            <a:extLst xmlns:a="http://schemas.openxmlformats.org/drawingml/2006/main">
              <a:ext uri="{FF2B5EF4-FFF2-40B4-BE49-F238E27FC236}">
                <a16:creationId xmlns:a16="http://schemas.microsoft.com/office/drawing/2014/main" id="{CC59F421-8787-4983-997F-A00A98C52DB3}"/>
              </a:ext>
            </a:extLst>
          </p:cNvPr>
          <p:cNvSpPr>
            <a:spLocks xmlns:a="http://schemas.openxmlformats.org/drawingml/2006/main" noGrp="1"/>
          </p:cNvSpPr>
          <p:nvPr/>
        </p:nvSpPr>
        <p:spPr>
          <a:xfrm xmlns:a="http://schemas.openxmlformats.org/drawingml/2006/main">
            <a:off x="514350" y="526732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TEAM ID</a:t>
            </a:r>
          </a:p>
        </p:txBody>
      </p:sp>
      <p:sp>
        <p:nvSpPr>
          <p:cNvPr id="17" name="">
            <a:extLst xmlns:a="http://schemas.openxmlformats.org/drawingml/2006/main">
              <a:ext uri="{FF2B5EF4-FFF2-40B4-BE49-F238E27FC236}">
                <a16:creationId xmlns:a16="http://schemas.microsoft.com/office/drawing/2014/main" id="{E5B2D3C7-88F2-4BE8-A2CE-D21B705A5847}"/>
              </a:ext>
            </a:extLst>
          </p:cNvPr>
          <p:cNvSpPr>
            <a:spLocks xmlns:a="http://schemas.openxmlformats.org/drawingml/2006/main" noGrp="1"/>
          </p:cNvSpPr>
          <p:nvPr/>
        </p:nvSpPr>
        <p:spPr>
          <a:xfrm xmlns:a="http://schemas.openxmlformats.org/drawingml/2006/main">
            <a:off x="2676525" y="524827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D166"/>
                </a:solidFill>
                <a:latin typeface="Helvetica Neue"/>
                <a:ea typeface="Helvetica Neue"/>
                <a:cs typeface="Helvetica Neue"/>
              </a:defRPr>
            </a:pPr>
            <a:r>
              <a:rPr sz="1350" b="1">
                <a:solidFill>
                  <a:srgbClr val="FFD166"/>
                </a:solidFill>
                <a:latin typeface="Helvetica Neue"/>
                <a:ea typeface="Helvetica Neue"/>
                <a:cs typeface="Helvetica Neue"/>
              </a:rPr>
              <a:t>__________________</a:t>
            </a:r>
          </a:p>
        </p:txBody>
      </p:sp>
      <p:sp>
        <p:nvSpPr>
          <p:cNvPr id="18" name="">
            <a:extLst xmlns:a="http://schemas.openxmlformats.org/drawingml/2006/main">
              <a:ext uri="{FF2B5EF4-FFF2-40B4-BE49-F238E27FC236}">
                <a16:creationId xmlns:a16="http://schemas.microsoft.com/office/drawing/2014/main" id="{815189ED-912E-419B-974A-A9E5488E416B}"/>
              </a:ext>
            </a:extLst>
          </p:cNvPr>
          <p:cNvSpPr>
            <a:spLocks xmlns:a="http://schemas.openxmlformats.org/drawingml/2006/main" noGrp="1"/>
          </p:cNvSpPr>
          <p:nvPr/>
        </p:nvSpPr>
        <p:spPr>
          <a:xfrm xmlns:a="http://schemas.openxmlformats.org/drawingml/2006/main">
            <a:off x="514350" y="5705475"/>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00" b="1">
                <a:solidFill>
                  <a:srgbClr val="FF9F1C"/>
                </a:solidFill>
                <a:latin typeface="Helvetica Neue"/>
                <a:ea typeface="Helvetica Neue"/>
                <a:cs typeface="Helvetica Neue"/>
              </a:defRPr>
            </a:pPr>
            <a:r>
              <a:rPr sz="900" b="1">
                <a:solidFill>
                  <a:srgbClr val="FF9F1C"/>
                </a:solidFill>
                <a:latin typeface="Helvetica Neue"/>
                <a:ea typeface="Helvetica Neue"/>
                <a:cs typeface="Helvetica Neue"/>
              </a:rPr>
              <a:t>TEAM NAME</a:t>
            </a:r>
          </a:p>
        </p:txBody>
      </p:sp>
      <p:sp>
        <p:nvSpPr>
          <p:cNvPr id="19" name="">
            <a:extLst xmlns:a="http://schemas.openxmlformats.org/drawingml/2006/main">
              <a:ext uri="{FF2B5EF4-FFF2-40B4-BE49-F238E27FC236}">
                <a16:creationId xmlns:a16="http://schemas.microsoft.com/office/drawing/2014/main" id="{4E2E07A7-6419-4653-891F-0F9DF34A3454}"/>
              </a:ext>
            </a:extLst>
          </p:cNvPr>
          <p:cNvSpPr>
            <a:spLocks xmlns:a="http://schemas.openxmlformats.org/drawingml/2006/main" noGrp="1"/>
          </p:cNvSpPr>
          <p:nvPr/>
        </p:nvSpPr>
        <p:spPr>
          <a:xfrm xmlns:a="http://schemas.openxmlformats.org/drawingml/2006/main">
            <a:off x="2676525" y="56864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ThermoWatch</a:t>
            </a:r>
          </a:p>
        </p:txBody>
      </p:sp>
      <p:sp>
        <p:nvSpPr>
          <p:cNvPr id="20" name="">
            <a:extLst xmlns:a="http://schemas.openxmlformats.org/drawingml/2006/main">
              <a:ext uri="{FF2B5EF4-FFF2-40B4-BE49-F238E27FC236}">
                <a16:creationId xmlns:a16="http://schemas.microsoft.com/office/drawing/2014/main" id="{FE799FBA-DDF3-4487-BC19-4840D8F0EEF6}"/>
              </a:ext>
            </a:extLst>
          </p:cNvPr>
          <p:cNvSpPr>
            <a:spLocks xmlns:a="http://schemas.openxmlformats.org/drawingml/2006/main" noGrp="1"/>
          </p:cNvSpPr>
          <p:nvPr/>
        </p:nvSpPr>
        <p:spPr>
          <a:xfrm xmlns:a="http://schemas.openxmlformats.org/drawingml/2006/main">
            <a:off x="7581900" y="876300"/>
            <a:ext cx="4210050" cy="2647950"/>
          </a:xfrm>
          <a:prstGeom xmlns:a="http://schemas.openxmlformats.org/drawingml/2006/main" prst="roundRect">
            <a:avLst>
              <a:gd name="adj" fmla="val 5755"/>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c66fe55290da4593"/>
          <a:srcRect xmlns:a="http://schemas.openxmlformats.org/drawingml/2006/main" l="46" t="0" r="46" b="0"/>
          <a:stretch xmlns:a="http://schemas.openxmlformats.org/drawingml/2006/main">
            <a:fillRect l="0" t="0" r="0" b="0"/>
          </a:stretch>
        </p:blipFill>
        <p:spPr>
          <a:xfrm xmlns:a="http://schemas.openxmlformats.org/drawingml/2006/main">
            <a:off x="7600950" y="895350"/>
            <a:ext cx="4171950" cy="2609850"/>
          </a:xfrm>
          <a:prstGeom xmlns:a="http://schemas.openxmlformats.org/drawingml/2006/main" prst="roundRect">
            <a:avLst>
              <a:gd name="adj" fmla="val 5839"/>
            </a:avLst>
          </a:prstGeom>
        </p:spPr>
      </p:pic>
      <p:sp>
        <p:nvSpPr>
          <p:cNvPr id="22" name="">
            <a:extLst xmlns:a="http://schemas.openxmlformats.org/drawingml/2006/main">
              <a:ext uri="{FF2B5EF4-FFF2-40B4-BE49-F238E27FC236}">
                <a16:creationId xmlns:a16="http://schemas.microsoft.com/office/drawing/2014/main" id="{7CC7100C-915F-4EF3-A661-6B39F8BE62A6}"/>
              </a:ext>
            </a:extLst>
          </p:cNvPr>
          <p:cNvSpPr>
            <a:spLocks xmlns:a="http://schemas.openxmlformats.org/drawingml/2006/main" noGrp="1"/>
          </p:cNvSpPr>
          <p:nvPr/>
        </p:nvSpPr>
        <p:spPr>
          <a:xfrm xmlns:a="http://schemas.openxmlformats.org/drawingml/2006/main">
            <a:off x="8124825" y="3762375"/>
            <a:ext cx="3667125" cy="2305050"/>
          </a:xfrm>
          <a:prstGeom xmlns:a="http://schemas.openxmlformats.org/drawingml/2006/main" prst="roundRect">
            <a:avLst>
              <a:gd name="adj" fmla="val 6612"/>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5f9f629ee22e4812"/>
          <a:srcRect xmlns:a="http://schemas.openxmlformats.org/drawingml/2006/main" l="0" t="26" r="0" b="26"/>
          <a:stretch xmlns:a="http://schemas.openxmlformats.org/drawingml/2006/main">
            <a:fillRect l="0" t="0" r="0" b="0"/>
          </a:stretch>
        </p:blipFill>
        <p:spPr>
          <a:xfrm xmlns:a="http://schemas.openxmlformats.org/drawingml/2006/main">
            <a:off x="8143875" y="3781425"/>
            <a:ext cx="3629025" cy="2266950"/>
          </a:xfrm>
          <a:prstGeom xmlns:a="http://schemas.openxmlformats.org/drawingml/2006/main" prst="roundRect">
            <a:avLst>
              <a:gd name="adj" fmla="val 6723"/>
            </a:avLst>
          </a:prstGeom>
        </p:spPr>
      </p:pic>
      <p:sp>
        <p:nvSpPr>
          <p:cNvPr id="24" name="">
            <a:extLst xmlns:a="http://schemas.openxmlformats.org/drawingml/2006/main">
              <a:ext uri="{FF2B5EF4-FFF2-40B4-BE49-F238E27FC236}">
                <a16:creationId xmlns:a16="http://schemas.microsoft.com/office/drawing/2014/main" id="{C774065E-51F9-4560-A731-02A7874A4130}"/>
              </a:ext>
            </a:extLst>
          </p:cNvPr>
          <p:cNvSpPr>
            <a:spLocks xmlns:a="http://schemas.openxmlformats.org/drawingml/2006/main" noGrp="1"/>
          </p:cNvSpPr>
          <p:nvPr/>
        </p:nvSpPr>
        <p:spPr>
          <a:xfrm xmlns:a="http://schemas.openxmlformats.org/drawingml/2006/main">
            <a:off x="7600950" y="6210300"/>
            <a:ext cx="417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1050" b="1">
                <a:solidFill>
                  <a:srgbClr val="20C878"/>
                </a:solidFill>
                <a:latin typeface="Helvetica Neue"/>
                <a:ea typeface="Helvetica Neue"/>
                <a:cs typeface="Helvetica Neue"/>
              </a:defRPr>
            </a:pPr>
            <a:r>
              <a:rPr sz="1050" b="1">
                <a:solidFill>
                  <a:srgbClr val="20C878"/>
                </a:solidFill>
                <a:latin typeface="Helvetica Neue"/>
                <a:ea typeface="Helvetica Neue"/>
                <a:cs typeface="Helvetica Neue"/>
              </a:rPr>
              <a:t>WORKING PROTOTYPE</a:t>
            </a:r>
          </a:p>
        </p:txBody>
      </p:sp>
    </p:spTree>
    <p:extLst>
      <p:ext uri="{BB962C8B-B14F-4D97-AF65-F5344CB8AC3E}">
        <p14:creationId xmlns:p14="http://schemas.microsoft.com/office/powerpoint/2010/main" val="3258783314"/>
      </p:ext>
    </p:extLst>
  </p:cSld>
</p:sld>
</file>

<file path=ppt/slides/slide2.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AD0FF7D4-538D-44F2-B02E-5484057DB3BB}"/>
              </a:ext>
            </a:extLst>
          </p:cNvPr>
          <p:cNvSpPr>
            <a:spLocks xmlns:a="http://schemas.openxmlformats.org/drawingml/2006/main" noGrp="1"/>
          </p:cNvSpPr>
          <p:nvPr/>
        </p:nvSpPr>
        <p:spPr>
          <a:xfrm xmlns:a="http://schemas.openxmlformats.org/drawingml/2006/main">
            <a:off x="514350" y="428625"/>
            <a:ext cx="266700" cy="28575"/>
          </a:xfrm>
          <a:prstGeom xmlns:a="http://schemas.openxmlformats.org/drawingml/2006/main" prst="rect">
            <a:avLst/>
          </a:prstGeom>
          <a:solidFill xmlns:a="http://schemas.openxmlformats.org/drawingml/2006/main">
            <a:srgbClr val="FF9F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9795E73-770F-452C-9DEF-6787F4758EA9}"/>
              </a:ext>
            </a:extLst>
          </p:cNvPr>
          <p:cNvSpPr>
            <a:spLocks xmlns:a="http://schemas.openxmlformats.org/drawingml/2006/main" noGrp="1"/>
          </p:cNvSpPr>
          <p:nvPr/>
        </p:nvSpPr>
        <p:spPr>
          <a:xfrm xmlns:a="http://schemas.openxmlformats.org/drawingml/2006/main">
            <a:off x="895350" y="33337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9F1C"/>
                </a:solidFill>
                <a:latin typeface="Helvetica Neue"/>
                <a:ea typeface="Helvetica Neue"/>
                <a:cs typeface="Helvetica Neue"/>
              </a:defRPr>
            </a:pPr>
            <a:r>
              <a:rPr sz="1425" b="1">
                <a:solidFill>
                  <a:srgbClr val="FF9F1C"/>
                </a:solidFill>
                <a:latin typeface="Helvetica Neue"/>
                <a:ea typeface="Helvetica Neue"/>
                <a:cs typeface="Helvetica Neue"/>
              </a:rPr>
              <a:t>PROPOSED SOLUTION</a:t>
            </a:r>
          </a:p>
        </p:txBody>
      </p:sp>
      <p:sp>
        <p:nvSpPr>
          <p:cNvPr id="3" name="">
            <a:extLst xmlns:a="http://schemas.openxmlformats.org/drawingml/2006/main">
              <a:ext uri="{FF2B5EF4-FFF2-40B4-BE49-F238E27FC236}">
                <a16:creationId xmlns:a16="http://schemas.microsoft.com/office/drawing/2014/main" id="{85917469-C3E8-4CF1-B0FA-6A51858B44EE}"/>
              </a:ext>
            </a:extLst>
          </p:cNvPr>
          <p:cNvSpPr>
            <a:spLocks xmlns:a="http://schemas.openxmlformats.org/drawingml/2006/main" noGrp="1"/>
          </p:cNvSpPr>
          <p:nvPr/>
        </p:nvSpPr>
        <p:spPr>
          <a:xfrm xmlns:a="http://schemas.openxmlformats.org/drawingml/2006/main">
            <a:off x="9620250" y="3714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6AFBD"/>
                </a:solidFill>
                <a:latin typeface="Helvetica Neue"/>
                <a:ea typeface="Helvetica Neue"/>
                <a:cs typeface="Helvetica Neue"/>
              </a:defRPr>
            </a:pPr>
            <a:r>
              <a:rPr sz="975" b="1">
                <a:solidFill>
                  <a:srgbClr val="A6AFBD"/>
                </a:solidFill>
                <a:latin typeface="Helvetica Neue"/>
                <a:ea typeface="Helvetica Neue"/>
                <a:cs typeface="Helvetica Neue"/>
              </a:rPr>
              <a:t>TEAM THERMOWATCH</a:t>
            </a:r>
          </a:p>
        </p:txBody>
      </p:sp>
      <p:sp>
        <p:nvSpPr>
          <p:cNvPr id="4" name="">
            <a:extLst xmlns:a="http://schemas.openxmlformats.org/drawingml/2006/main">
              <a:ext uri="{FF2B5EF4-FFF2-40B4-BE49-F238E27FC236}">
                <a16:creationId xmlns:a16="http://schemas.microsoft.com/office/drawing/2014/main" id="{6D282BC4-E4CD-4E25-9F51-1A9A188BC3C5}"/>
              </a:ext>
            </a:extLst>
          </p:cNvPr>
          <p:cNvSpPr>
            <a:spLocks xmlns:a="http://schemas.openxmlformats.org/drawingml/2006/main" noGrp="1"/>
          </p:cNvSpPr>
          <p:nvPr/>
        </p:nvSpPr>
        <p:spPr>
          <a:xfrm xmlns:a="http://schemas.openxmlformats.org/drawingml/2006/main">
            <a:off x="11410950" y="64960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A6AFBD"/>
                </a:solidFill>
                <a:latin typeface="Helvetica Neue"/>
                <a:ea typeface="Helvetica Neue"/>
                <a:cs typeface="Helvetica Neue"/>
              </a:defRPr>
            </a:pPr>
            <a:r>
              <a:rPr sz="900" b="0">
                <a:solidFill>
                  <a:srgbClr val="A6AFBD"/>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FB5320F-52EF-4057-B3CA-527DA032ECA5}"/>
              </a:ext>
            </a:extLst>
          </p:cNvPr>
          <p:cNvSpPr>
            <a:spLocks xmlns:a="http://schemas.openxmlformats.org/drawingml/2006/main" noGrp="1"/>
          </p:cNvSpPr>
          <p:nvPr/>
        </p:nvSpPr>
        <p:spPr>
          <a:xfrm xmlns:a="http://schemas.openxmlformats.org/drawingml/2006/main">
            <a:off x="514350" y="904875"/>
            <a:ext cx="481012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196"/>
          </a:bodyPr>
          <a:lstStyle xmlns:a="http://schemas.openxmlformats.org/drawingml/2006/main"/>
          <a:p xmlns:a="http://schemas.openxmlformats.org/drawingml/2006/main">
            <a:pPr algn="l">
              <a:lnSpc>
                <a:spcPct val="98000"/>
              </a:lnSpc>
              <a:buNone/>
              <a:defRPr sz="2700" b="1">
                <a:solidFill>
                  <a:srgbClr val="F8FAFC"/>
                </a:solidFill>
                <a:latin typeface="Helvetica Neue"/>
                <a:ea typeface="Helvetica Neue"/>
                <a:cs typeface="Helvetica Neue"/>
              </a:defRPr>
            </a:pPr>
            <a:r>
              <a:rPr sz="2700" b="1">
                <a:solidFill>
                  <a:srgbClr val="F8FAFC"/>
                </a:solidFill>
                <a:latin typeface="Helvetica Neue"/>
                <a:ea typeface="Helvetica Neue"/>
                <a:cs typeface="Helvetica Neue"/>
              </a:rPr>
              <a:t>Live weather becomes a clear district risk and response plan</a:t>
            </a:r>
          </a:p>
        </p:txBody>
      </p:sp>
      <p:sp>
        <p:nvSpPr>
          <p:cNvPr id="6" name="">
            <a:extLst xmlns:a="http://schemas.openxmlformats.org/drawingml/2006/main">
              <a:ext uri="{FF2B5EF4-FFF2-40B4-BE49-F238E27FC236}">
                <a16:creationId xmlns:a16="http://schemas.microsoft.com/office/drawing/2014/main" id="{93A43E20-575A-4C50-9A2D-FC88CA7F688D}"/>
              </a:ext>
            </a:extLst>
          </p:cNvPr>
          <p:cNvSpPr>
            <a:spLocks xmlns:a="http://schemas.openxmlformats.org/drawingml/2006/main" noGrp="1"/>
          </p:cNvSpPr>
          <p:nvPr/>
        </p:nvSpPr>
        <p:spPr>
          <a:xfrm xmlns:a="http://schemas.openxmlformats.org/drawingml/2006/main">
            <a:off x="514350" y="2133600"/>
            <a:ext cx="285750" cy="285750"/>
          </a:xfrm>
          <a:prstGeom xmlns:a="http://schemas.openxmlformats.org/drawingml/2006/main" prst="ellipse">
            <a:avLst/>
          </a:prstGeom>
          <a:solidFill xmlns:a="http://schemas.openxmlformats.org/drawingml/2006/main">
            <a:srgbClr val="FF9F1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E6E468-2DD4-4928-A8BD-8365489C4380}"/>
              </a:ext>
            </a:extLst>
          </p:cNvPr>
          <p:cNvSpPr>
            <a:spLocks xmlns:a="http://schemas.openxmlformats.org/drawingml/2006/main" noGrp="1"/>
          </p:cNvSpPr>
          <p:nvPr/>
        </p:nvSpPr>
        <p:spPr>
          <a:xfrm xmlns:a="http://schemas.openxmlformats.org/drawingml/2006/main">
            <a:off x="514350" y="219075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F3FA3512-2BED-46ED-A943-9955348D37D1}"/>
              </a:ext>
            </a:extLst>
          </p:cNvPr>
          <p:cNvSpPr>
            <a:spLocks xmlns:a="http://schemas.openxmlformats.org/drawingml/2006/main" noGrp="1"/>
          </p:cNvSpPr>
          <p:nvPr/>
        </p:nvSpPr>
        <p:spPr>
          <a:xfrm xmlns:a="http://schemas.openxmlformats.org/drawingml/2006/main">
            <a:off x="933450" y="2114550"/>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Predict risk</a:t>
            </a:r>
          </a:p>
        </p:txBody>
      </p:sp>
      <p:sp>
        <p:nvSpPr>
          <p:cNvPr id="9" name="">
            <a:extLst xmlns:a="http://schemas.openxmlformats.org/drawingml/2006/main">
              <a:ext uri="{FF2B5EF4-FFF2-40B4-BE49-F238E27FC236}">
                <a16:creationId xmlns:a16="http://schemas.microsoft.com/office/drawing/2014/main" id="{E2B2DF14-D014-4C0E-93DD-A83650E6EFC7}"/>
              </a:ext>
            </a:extLst>
          </p:cNvPr>
          <p:cNvSpPr>
            <a:spLocks xmlns:a="http://schemas.openxmlformats.org/drawingml/2006/main" noGrp="1"/>
          </p:cNvSpPr>
          <p:nvPr/>
        </p:nvSpPr>
        <p:spPr>
          <a:xfrm xmlns:a="http://schemas.openxmlformats.org/drawingml/2006/main">
            <a:off x="933450" y="2390775"/>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HTSI and a trained ML model classify current and forecast heat stress.</a:t>
            </a:r>
          </a:p>
        </p:txBody>
      </p:sp>
      <p:sp>
        <p:nvSpPr>
          <p:cNvPr id="10" name="">
            <a:extLst xmlns:a="http://schemas.openxmlformats.org/drawingml/2006/main">
              <a:ext uri="{FF2B5EF4-FFF2-40B4-BE49-F238E27FC236}">
                <a16:creationId xmlns:a16="http://schemas.microsoft.com/office/drawing/2014/main" id="{58DC41D5-23B6-4242-BAD1-5FFB83FF0F91}"/>
              </a:ext>
            </a:extLst>
          </p:cNvPr>
          <p:cNvSpPr>
            <a:spLocks xmlns:a="http://schemas.openxmlformats.org/drawingml/2006/main" noGrp="1"/>
          </p:cNvSpPr>
          <p:nvPr/>
        </p:nvSpPr>
        <p:spPr>
          <a:xfrm xmlns:a="http://schemas.openxmlformats.org/drawingml/2006/main">
            <a:off x="514350" y="3133725"/>
            <a:ext cx="285750" cy="285750"/>
          </a:xfrm>
          <a:prstGeom xmlns:a="http://schemas.openxmlformats.org/drawingml/2006/main" prst="ellipse">
            <a:avLst/>
          </a:prstGeom>
          <a:solidFill xmlns:a="http://schemas.openxmlformats.org/drawingml/2006/main">
            <a:srgbClr val="4CC9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80CFED6-E38B-497E-97E2-9F6A3EDBB490}"/>
              </a:ext>
            </a:extLst>
          </p:cNvPr>
          <p:cNvSpPr>
            <a:spLocks xmlns:a="http://schemas.openxmlformats.org/drawingml/2006/main" noGrp="1"/>
          </p:cNvSpPr>
          <p:nvPr/>
        </p:nvSpPr>
        <p:spPr>
          <a:xfrm xmlns:a="http://schemas.openxmlformats.org/drawingml/2006/main">
            <a:off x="514350" y="319087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2</a:t>
            </a:r>
          </a:p>
        </p:txBody>
      </p:sp>
      <p:sp>
        <p:nvSpPr>
          <p:cNvPr id="12" name="">
            <a:extLst xmlns:a="http://schemas.openxmlformats.org/drawingml/2006/main">
              <a:ext uri="{FF2B5EF4-FFF2-40B4-BE49-F238E27FC236}">
                <a16:creationId xmlns:a16="http://schemas.microsoft.com/office/drawing/2014/main" id="{9248916E-B2D7-49CE-955B-E431CC817DEA}"/>
              </a:ext>
            </a:extLst>
          </p:cNvPr>
          <p:cNvSpPr>
            <a:spLocks xmlns:a="http://schemas.openxmlformats.org/drawingml/2006/main" noGrp="1"/>
          </p:cNvSpPr>
          <p:nvPr/>
        </p:nvSpPr>
        <p:spPr>
          <a:xfrm xmlns:a="http://schemas.openxmlformats.org/drawingml/2006/main">
            <a:off x="933450" y="311467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Prioritize people and places</a:t>
            </a:r>
          </a:p>
        </p:txBody>
      </p:sp>
      <p:sp>
        <p:nvSpPr>
          <p:cNvPr id="13" name="">
            <a:extLst xmlns:a="http://schemas.openxmlformats.org/drawingml/2006/main">
              <a:ext uri="{FF2B5EF4-FFF2-40B4-BE49-F238E27FC236}">
                <a16:creationId xmlns:a16="http://schemas.microsoft.com/office/drawing/2014/main" id="{B3B50CA9-54CB-48E8-9485-A7B68CA40F35}"/>
              </a:ext>
            </a:extLst>
          </p:cNvPr>
          <p:cNvSpPr>
            <a:spLocks xmlns:a="http://schemas.openxmlformats.org/drawingml/2006/main" noGrp="1"/>
          </p:cNvSpPr>
          <p:nvPr/>
        </p:nvSpPr>
        <p:spPr>
          <a:xfrm xmlns:a="http://schemas.openxmlformats.org/drawingml/2006/main">
            <a:off x="933450" y="339090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The India map ranks districts and highlights vulnerable groups.</a:t>
            </a:r>
          </a:p>
        </p:txBody>
      </p:sp>
      <p:sp>
        <p:nvSpPr>
          <p:cNvPr id="14" name="">
            <a:extLst xmlns:a="http://schemas.openxmlformats.org/drawingml/2006/main">
              <a:ext uri="{FF2B5EF4-FFF2-40B4-BE49-F238E27FC236}">
                <a16:creationId xmlns:a16="http://schemas.microsoft.com/office/drawing/2014/main" id="{96D88296-D9C2-4F8A-951D-491000727E28}"/>
              </a:ext>
            </a:extLst>
          </p:cNvPr>
          <p:cNvSpPr>
            <a:spLocks xmlns:a="http://schemas.openxmlformats.org/drawingml/2006/main" noGrp="1"/>
          </p:cNvSpPr>
          <p:nvPr/>
        </p:nvSpPr>
        <p:spPr>
          <a:xfrm xmlns:a="http://schemas.openxmlformats.org/drawingml/2006/main">
            <a:off x="514350" y="4133850"/>
            <a:ext cx="285750" cy="285750"/>
          </a:xfrm>
          <a:prstGeom xmlns:a="http://schemas.openxmlformats.org/drawingml/2006/main" prst="ellipse">
            <a:avLst/>
          </a:prstGeom>
          <a:solidFill xmlns:a="http://schemas.openxmlformats.org/drawingml/2006/main">
            <a:srgbClr val="20C87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3A5F918-94DB-49F7-A4D8-A6E321755172}"/>
              </a:ext>
            </a:extLst>
          </p:cNvPr>
          <p:cNvSpPr>
            <a:spLocks xmlns:a="http://schemas.openxmlformats.org/drawingml/2006/main" noGrp="1"/>
          </p:cNvSpPr>
          <p:nvPr/>
        </p:nvSpPr>
        <p:spPr>
          <a:xfrm xmlns:a="http://schemas.openxmlformats.org/drawingml/2006/main">
            <a:off x="514350" y="41910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1D64AF14-61D3-4F13-9B80-F90A31B2AABB}"/>
              </a:ext>
            </a:extLst>
          </p:cNvPr>
          <p:cNvSpPr>
            <a:spLocks xmlns:a="http://schemas.openxmlformats.org/drawingml/2006/main" noGrp="1"/>
          </p:cNvSpPr>
          <p:nvPr/>
        </p:nvSpPr>
        <p:spPr>
          <a:xfrm xmlns:a="http://schemas.openxmlformats.org/drawingml/2006/main">
            <a:off x="933450" y="4114800"/>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Turn warning into action</a:t>
            </a:r>
          </a:p>
        </p:txBody>
      </p:sp>
      <p:sp>
        <p:nvSpPr>
          <p:cNvPr id="17" name="">
            <a:extLst xmlns:a="http://schemas.openxmlformats.org/drawingml/2006/main">
              <a:ext uri="{FF2B5EF4-FFF2-40B4-BE49-F238E27FC236}">
                <a16:creationId xmlns:a16="http://schemas.microsoft.com/office/drawing/2014/main" id="{AE401C51-175B-4B72-84BF-A39200F0F8C4}"/>
              </a:ext>
            </a:extLst>
          </p:cNvPr>
          <p:cNvSpPr>
            <a:spLocks xmlns:a="http://schemas.openxmlformats.org/drawingml/2006/main" noGrp="1"/>
          </p:cNvSpPr>
          <p:nvPr/>
        </p:nvSpPr>
        <p:spPr>
          <a:xfrm xmlns:a="http://schemas.openxmlformats.org/drawingml/2006/main">
            <a:off x="933450" y="4391025"/>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Alerts, facilities, incident records and history support the response.</a:t>
            </a:r>
          </a:p>
        </p:txBody>
      </p:sp>
      <p:sp>
        <p:nvSpPr>
          <p:cNvPr id="18" name="">
            <a:extLst xmlns:a="http://schemas.openxmlformats.org/drawingml/2006/main">
              <a:ext uri="{FF2B5EF4-FFF2-40B4-BE49-F238E27FC236}">
                <a16:creationId xmlns:a16="http://schemas.microsoft.com/office/drawing/2014/main" id="{5E6E49DF-DEB2-4E6A-874B-FCF3B10BEDFD}"/>
              </a:ext>
            </a:extLst>
          </p:cNvPr>
          <p:cNvSpPr>
            <a:spLocks xmlns:a="http://schemas.openxmlformats.org/drawingml/2006/main" noGrp="1"/>
          </p:cNvSpPr>
          <p:nvPr/>
        </p:nvSpPr>
        <p:spPr>
          <a:xfrm xmlns:a="http://schemas.openxmlformats.org/drawingml/2006/main">
            <a:off x="514350" y="5133975"/>
            <a:ext cx="285750" cy="285750"/>
          </a:xfrm>
          <a:prstGeom xmlns:a="http://schemas.openxmlformats.org/drawingml/2006/main" prst="ellipse">
            <a:avLst/>
          </a:prstGeom>
          <a:solidFill xmlns:a="http://schemas.openxmlformats.org/drawingml/2006/main">
            <a:srgbClr val="A855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01C6E65-5EFA-4F5E-A720-23A90935AE3F}"/>
              </a:ext>
            </a:extLst>
          </p:cNvPr>
          <p:cNvSpPr>
            <a:spLocks xmlns:a="http://schemas.openxmlformats.org/drawingml/2006/main" noGrp="1"/>
          </p:cNvSpPr>
          <p:nvPr/>
        </p:nvSpPr>
        <p:spPr>
          <a:xfrm xmlns:a="http://schemas.openxmlformats.org/drawingml/2006/main">
            <a:off x="514350" y="519112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4</a:t>
            </a:r>
          </a:p>
        </p:txBody>
      </p:sp>
      <p:sp>
        <p:nvSpPr>
          <p:cNvPr id="20" name="">
            <a:extLst xmlns:a="http://schemas.openxmlformats.org/drawingml/2006/main">
              <a:ext uri="{FF2B5EF4-FFF2-40B4-BE49-F238E27FC236}">
                <a16:creationId xmlns:a16="http://schemas.microsoft.com/office/drawing/2014/main" id="{AB37ED87-C0D7-48C4-9C4B-65EDB61CC61A}"/>
              </a:ext>
            </a:extLst>
          </p:cNvPr>
          <p:cNvSpPr>
            <a:spLocks xmlns:a="http://schemas.openxmlformats.org/drawingml/2006/main" noGrp="1"/>
          </p:cNvSpPr>
          <p:nvPr/>
        </p:nvSpPr>
        <p:spPr>
          <a:xfrm xmlns:a="http://schemas.openxmlformats.org/drawingml/2006/main">
            <a:off x="933450" y="5114925"/>
            <a:ext cx="426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Reach local users</a:t>
            </a:r>
          </a:p>
        </p:txBody>
      </p:sp>
      <p:sp>
        <p:nvSpPr>
          <p:cNvPr id="21" name="">
            <a:extLst xmlns:a="http://schemas.openxmlformats.org/drawingml/2006/main">
              <a:ext uri="{FF2B5EF4-FFF2-40B4-BE49-F238E27FC236}">
                <a16:creationId xmlns:a16="http://schemas.microsoft.com/office/drawing/2014/main" id="{18A7F10C-A698-4243-8BD9-2AAD457CF5A2}"/>
              </a:ext>
            </a:extLst>
          </p:cNvPr>
          <p:cNvSpPr>
            <a:spLocks xmlns:a="http://schemas.openxmlformats.org/drawingml/2006/main" noGrp="1"/>
          </p:cNvSpPr>
          <p:nvPr/>
        </p:nvSpPr>
        <p:spPr>
          <a:xfrm xmlns:a="http://schemas.openxmlformats.org/drawingml/2006/main">
            <a:off x="933450" y="5391150"/>
            <a:ext cx="4267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Kannada interface and a regional text and voice assistant improve access.</a:t>
            </a:r>
          </a:p>
        </p:txBody>
      </p:sp>
      <p:sp>
        <p:nvSpPr>
          <p:cNvPr id="22" name="">
            <a:extLst xmlns:a="http://schemas.openxmlformats.org/drawingml/2006/main">
              <a:ext uri="{FF2B5EF4-FFF2-40B4-BE49-F238E27FC236}">
                <a16:creationId xmlns:a16="http://schemas.microsoft.com/office/drawing/2014/main" id="{6AB8441F-FB0F-42F3-AF04-B71325991C66}"/>
              </a:ext>
            </a:extLst>
          </p:cNvPr>
          <p:cNvSpPr>
            <a:spLocks xmlns:a="http://schemas.openxmlformats.org/drawingml/2006/main" noGrp="1"/>
          </p:cNvSpPr>
          <p:nvPr/>
        </p:nvSpPr>
        <p:spPr>
          <a:xfrm xmlns:a="http://schemas.openxmlformats.org/drawingml/2006/main">
            <a:off x="5562600" y="1095375"/>
            <a:ext cx="6134100" cy="3848100"/>
          </a:xfrm>
          <a:prstGeom xmlns:a="http://schemas.openxmlformats.org/drawingml/2006/main" prst="roundRect">
            <a:avLst>
              <a:gd name="adj" fmla="val 3960"/>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50" name=""/>
          <p:cNvPicPr>
            <a:picLocks xmlns:a="http://schemas.openxmlformats.org/drawingml/2006/main" noChangeAspect="1"/>
          </p:cNvPicPr>
          <p:nvPr/>
        </p:nvPicPr>
        <p:blipFill>
          <a:blip xmlns:r="http://schemas.openxmlformats.org/officeDocument/2006/relationships" xmlns:a="http://schemas.openxmlformats.org/drawingml/2006/main" r:embed="R818d5924b8aa4e48"/>
          <a:srcRect xmlns:a="http://schemas.openxmlformats.org/drawingml/2006/main" l="0" t="0" r="0" b="0"/>
          <a:stretch xmlns:a="http://schemas.openxmlformats.org/drawingml/2006/main">
            <a:fillRect l="0" t="0" r="0" b="0"/>
          </a:stretch>
        </p:blipFill>
        <p:spPr>
          <a:xfrm xmlns:a="http://schemas.openxmlformats.org/drawingml/2006/main">
            <a:off x="5581650" y="1114425"/>
            <a:ext cx="6096000" cy="3810000"/>
          </a:xfrm>
          <a:prstGeom xmlns:a="http://schemas.openxmlformats.org/drawingml/2006/main" prst="roundRect">
            <a:avLst>
              <a:gd name="adj" fmla="val 4000"/>
            </a:avLst>
          </a:prstGeom>
        </p:spPr>
      </p:pic>
      <p:sp>
        <p:nvSpPr>
          <p:cNvPr id="24" name="">
            <a:extLst xmlns:a="http://schemas.openxmlformats.org/drawingml/2006/main">
              <a:ext uri="{FF2B5EF4-FFF2-40B4-BE49-F238E27FC236}">
                <a16:creationId xmlns:a16="http://schemas.microsoft.com/office/drawing/2014/main" id="{EC96A59B-2283-4B37-95E0-76854A4DD8DB}"/>
              </a:ext>
            </a:extLst>
          </p:cNvPr>
          <p:cNvSpPr>
            <a:spLocks xmlns:a="http://schemas.openxmlformats.org/drawingml/2006/main" noGrp="1"/>
          </p:cNvSpPr>
          <p:nvPr/>
        </p:nvSpPr>
        <p:spPr>
          <a:xfrm xmlns:a="http://schemas.openxmlformats.org/drawingml/2006/main">
            <a:off x="5581650" y="5200650"/>
            <a:ext cx="6096000" cy="876300"/>
          </a:xfrm>
          <a:prstGeom xmlns:a="http://schemas.openxmlformats.org/drawingml/2006/main" prst="roundRect">
            <a:avLst>
              <a:gd name="adj" fmla="val 13043"/>
            </a:avLst>
          </a:prstGeom>
          <a:solidFill xmlns:a="http://schemas.openxmlformats.org/drawingml/2006/main">
            <a:srgbClr val="171717"/>
          </a:solidFill>
          <a:ln xmlns:a="http://schemas.openxmlformats.org/drawingml/2006/main" w="9525">
            <a:solidFill>
              <a:srgbClr val="343840"/>
            </a:solidFill>
            <a:prstDash val="solid"/>
          </a:ln>
        </p:spPr>
      </p:sp>
      <p:sp>
        <p:nvSpPr>
          <p:cNvPr id="25" name="">
            <a:extLst xmlns:a="http://schemas.openxmlformats.org/drawingml/2006/main">
              <a:ext uri="{FF2B5EF4-FFF2-40B4-BE49-F238E27FC236}">
                <a16:creationId xmlns:a16="http://schemas.microsoft.com/office/drawing/2014/main" id="{0CEA2D1B-2226-481B-ADAF-2A26CB548A04}"/>
              </a:ext>
            </a:extLst>
          </p:cNvPr>
          <p:cNvSpPr>
            <a:spLocks xmlns:a="http://schemas.openxmlformats.org/drawingml/2006/main" noGrp="1"/>
          </p:cNvSpPr>
          <p:nvPr/>
        </p:nvSpPr>
        <p:spPr>
          <a:xfrm xmlns:a="http://schemas.openxmlformats.org/drawingml/2006/main">
            <a:off x="5791200" y="5400675"/>
            <a:ext cx="1190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1C"/>
                </a:solidFill>
                <a:latin typeface="Helvetica Neue"/>
                <a:ea typeface="Helvetica Neue"/>
                <a:cs typeface="Helvetica Neue"/>
              </a:defRPr>
            </a:pPr>
            <a:r>
              <a:rPr sz="975" b="1">
                <a:solidFill>
                  <a:srgbClr val="FF9F1C"/>
                </a:solidFill>
                <a:latin typeface="Helvetica Neue"/>
                <a:ea typeface="Helvetica Neue"/>
                <a:cs typeface="Helvetica Neue"/>
              </a:rPr>
              <a:t>UNIQUE VALUE</a:t>
            </a:r>
          </a:p>
        </p:txBody>
      </p:sp>
      <p:sp>
        <p:nvSpPr>
          <p:cNvPr id="26" name="">
            <a:extLst xmlns:a="http://schemas.openxmlformats.org/drawingml/2006/main">
              <a:ext uri="{FF2B5EF4-FFF2-40B4-BE49-F238E27FC236}">
                <a16:creationId xmlns:a16="http://schemas.microsoft.com/office/drawing/2014/main" id="{2E1E6F0A-9608-4A8C-B9C3-B6B5518A9B55}"/>
              </a:ext>
            </a:extLst>
          </p:cNvPr>
          <p:cNvSpPr>
            <a:spLocks xmlns:a="http://schemas.openxmlformats.org/drawingml/2006/main" noGrp="1"/>
          </p:cNvSpPr>
          <p:nvPr/>
        </p:nvSpPr>
        <p:spPr>
          <a:xfrm xmlns:a="http://schemas.openxmlformats.org/drawingml/2006/main">
            <a:off x="7105650" y="5334000"/>
            <a:ext cx="428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302"/>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One platform connects prediction, explanation and response.</a:t>
            </a:r>
          </a:p>
        </p:txBody>
      </p:sp>
      <p:sp>
        <p:nvSpPr>
          <p:cNvPr id="27" name="">
            <a:extLst xmlns:a="http://schemas.openxmlformats.org/drawingml/2006/main">
              <a:ext uri="{FF2B5EF4-FFF2-40B4-BE49-F238E27FC236}">
                <a16:creationId xmlns:a16="http://schemas.microsoft.com/office/drawing/2014/main" id="{96D22069-AF80-4B00-B9CB-6A3B247495C5}"/>
              </a:ext>
            </a:extLst>
          </p:cNvPr>
          <p:cNvSpPr>
            <a:spLocks xmlns:a="http://schemas.openxmlformats.org/drawingml/2006/main" noGrp="1"/>
          </p:cNvSpPr>
          <p:nvPr/>
        </p:nvSpPr>
        <p:spPr>
          <a:xfrm xmlns:a="http://schemas.openxmlformats.org/drawingml/2006/main">
            <a:off x="7105650" y="5772150"/>
            <a:ext cx="428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Live today. SMS and WhatsApp remain clearly labelled demo previews.</a:t>
            </a:r>
          </a:p>
        </p:txBody>
      </p:sp>
    </p:spTree>
    <p:extLst>
      <p:ext uri="{BB962C8B-B14F-4D97-AF65-F5344CB8AC3E}">
        <p14:creationId xmlns:p14="http://schemas.microsoft.com/office/powerpoint/2010/main" val="1053439695"/>
      </p:ext>
    </p:extLst>
  </p:cSld>
</p:sld>
</file>

<file path=ppt/slides/slide3.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B5565AA-DE6D-42B6-9EE6-BE21F917252F}"/>
              </a:ext>
            </a:extLst>
          </p:cNvPr>
          <p:cNvSpPr>
            <a:spLocks xmlns:a="http://schemas.openxmlformats.org/drawingml/2006/main" noGrp="1"/>
          </p:cNvSpPr>
          <p:nvPr/>
        </p:nvSpPr>
        <p:spPr>
          <a:xfrm xmlns:a="http://schemas.openxmlformats.org/drawingml/2006/main">
            <a:off x="514350" y="428625"/>
            <a:ext cx="266700" cy="28575"/>
          </a:xfrm>
          <a:prstGeom xmlns:a="http://schemas.openxmlformats.org/drawingml/2006/main" prst="rect">
            <a:avLst/>
          </a:prstGeom>
          <a:solidFill xmlns:a="http://schemas.openxmlformats.org/drawingml/2006/main">
            <a:srgbClr val="FF9F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09E613-0A98-4D93-AF37-0B3C89F68C53}"/>
              </a:ext>
            </a:extLst>
          </p:cNvPr>
          <p:cNvSpPr>
            <a:spLocks xmlns:a="http://schemas.openxmlformats.org/drawingml/2006/main" noGrp="1"/>
          </p:cNvSpPr>
          <p:nvPr/>
        </p:nvSpPr>
        <p:spPr>
          <a:xfrm xmlns:a="http://schemas.openxmlformats.org/drawingml/2006/main">
            <a:off x="895350" y="33337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9F1C"/>
                </a:solidFill>
                <a:latin typeface="Helvetica Neue"/>
                <a:ea typeface="Helvetica Neue"/>
                <a:cs typeface="Helvetica Neue"/>
              </a:defRPr>
            </a:pPr>
            <a:r>
              <a:rPr sz="1425" b="1">
                <a:solidFill>
                  <a:srgbClr val="FF9F1C"/>
                </a:solidFill>
                <a:latin typeface="Helvetica Neue"/>
                <a:ea typeface="Helvetica Neue"/>
                <a:cs typeface="Helvetica Neue"/>
              </a:rPr>
              <a:t>TECHNICAL APPROACH</a:t>
            </a:r>
          </a:p>
        </p:txBody>
      </p:sp>
      <p:sp>
        <p:nvSpPr>
          <p:cNvPr id="3" name="">
            <a:extLst xmlns:a="http://schemas.openxmlformats.org/drawingml/2006/main">
              <a:ext uri="{FF2B5EF4-FFF2-40B4-BE49-F238E27FC236}">
                <a16:creationId xmlns:a16="http://schemas.microsoft.com/office/drawing/2014/main" id="{96A6098B-5DD3-4B76-B597-6D9980F780B1}"/>
              </a:ext>
            </a:extLst>
          </p:cNvPr>
          <p:cNvSpPr>
            <a:spLocks xmlns:a="http://schemas.openxmlformats.org/drawingml/2006/main" noGrp="1"/>
          </p:cNvSpPr>
          <p:nvPr/>
        </p:nvSpPr>
        <p:spPr>
          <a:xfrm xmlns:a="http://schemas.openxmlformats.org/drawingml/2006/main">
            <a:off x="9620250" y="3714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6AFBD"/>
                </a:solidFill>
                <a:latin typeface="Helvetica Neue"/>
                <a:ea typeface="Helvetica Neue"/>
                <a:cs typeface="Helvetica Neue"/>
              </a:defRPr>
            </a:pPr>
            <a:r>
              <a:rPr sz="975" b="1">
                <a:solidFill>
                  <a:srgbClr val="A6AFBD"/>
                </a:solidFill>
                <a:latin typeface="Helvetica Neue"/>
                <a:ea typeface="Helvetica Neue"/>
                <a:cs typeface="Helvetica Neue"/>
              </a:rPr>
              <a:t>TEAM THERMOWATCH</a:t>
            </a:r>
          </a:p>
        </p:txBody>
      </p:sp>
      <p:sp>
        <p:nvSpPr>
          <p:cNvPr id="4" name="">
            <a:extLst xmlns:a="http://schemas.openxmlformats.org/drawingml/2006/main">
              <a:ext uri="{FF2B5EF4-FFF2-40B4-BE49-F238E27FC236}">
                <a16:creationId xmlns:a16="http://schemas.microsoft.com/office/drawing/2014/main" id="{CF4CF3A5-2029-41A9-8540-CA6EA623377D}"/>
              </a:ext>
            </a:extLst>
          </p:cNvPr>
          <p:cNvSpPr>
            <a:spLocks xmlns:a="http://schemas.openxmlformats.org/drawingml/2006/main" noGrp="1"/>
          </p:cNvSpPr>
          <p:nvPr/>
        </p:nvSpPr>
        <p:spPr>
          <a:xfrm xmlns:a="http://schemas.openxmlformats.org/drawingml/2006/main">
            <a:off x="11410950" y="64960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A6AFBD"/>
                </a:solidFill>
                <a:latin typeface="Helvetica Neue"/>
                <a:ea typeface="Helvetica Neue"/>
                <a:cs typeface="Helvetica Neue"/>
              </a:defRPr>
            </a:pPr>
            <a:r>
              <a:rPr sz="900" b="0">
                <a:solidFill>
                  <a:srgbClr val="A6AFBD"/>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FF251927-D0B0-476C-A0B7-BD825EF3942E}"/>
              </a:ext>
            </a:extLst>
          </p:cNvPr>
          <p:cNvSpPr>
            <a:spLocks xmlns:a="http://schemas.openxmlformats.org/drawingml/2006/main" noGrp="1"/>
          </p:cNvSpPr>
          <p:nvPr/>
        </p:nvSpPr>
        <p:spPr>
          <a:xfrm xmlns:a="http://schemas.openxmlformats.org/drawingml/2006/main">
            <a:off x="514350" y="895350"/>
            <a:ext cx="5048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625" b="1">
                <a:solidFill>
                  <a:srgbClr val="F8FAFC"/>
                </a:solidFill>
                <a:latin typeface="Helvetica Neue"/>
                <a:ea typeface="Helvetica Neue"/>
                <a:cs typeface="Helvetica Neue"/>
              </a:defRPr>
            </a:pPr>
            <a:r>
              <a:rPr sz="2625" b="1">
                <a:solidFill>
                  <a:srgbClr val="F8FAFC"/>
                </a:solidFill>
                <a:latin typeface="Helvetica Neue"/>
                <a:ea typeface="Helvetica Neue"/>
                <a:cs typeface="Helvetica Neue"/>
              </a:rPr>
              <a:t>Data and implementation flow</a:t>
            </a:r>
          </a:p>
        </p:txBody>
      </p:sp>
      <p:sp>
        <p:nvSpPr>
          <p:cNvPr id="6" name="">
            <a:extLst xmlns:a="http://schemas.openxmlformats.org/drawingml/2006/main">
              <a:ext uri="{FF2B5EF4-FFF2-40B4-BE49-F238E27FC236}">
                <a16:creationId xmlns:a16="http://schemas.microsoft.com/office/drawing/2014/main" id="{F5192453-CEA7-49F6-9BA9-152E948A4FD8}"/>
              </a:ext>
            </a:extLst>
          </p:cNvPr>
          <p:cNvSpPr>
            <a:spLocks xmlns:a="http://schemas.openxmlformats.org/drawingml/2006/main" noGrp="1"/>
          </p:cNvSpPr>
          <p:nvPr/>
        </p:nvSpPr>
        <p:spPr>
          <a:xfrm xmlns:a="http://schemas.openxmlformats.org/drawingml/2006/main">
            <a:off x="514350" y="1581150"/>
            <a:ext cx="2381250" cy="1200150"/>
          </a:xfrm>
          <a:prstGeom xmlns:a="http://schemas.openxmlformats.org/drawingml/2006/main" prst="roundRect">
            <a:avLst>
              <a:gd name="adj" fmla="val 9524"/>
            </a:avLst>
          </a:prstGeom>
          <a:solidFill xmlns:a="http://schemas.openxmlformats.org/drawingml/2006/main">
            <a:srgbClr val="171717"/>
          </a:solidFill>
          <a:ln xmlns:a="http://schemas.openxmlformats.org/drawingml/2006/main" w="9525">
            <a:solidFill>
              <a:srgbClr val="4CC9F0"/>
            </a:solidFill>
            <a:prstDash val="solid"/>
          </a:ln>
        </p:spPr>
      </p:sp>
      <p:sp>
        <p:nvSpPr>
          <p:cNvPr id="7" name="">
            <a:extLst xmlns:a="http://schemas.openxmlformats.org/drawingml/2006/main">
              <a:ext uri="{FF2B5EF4-FFF2-40B4-BE49-F238E27FC236}">
                <a16:creationId xmlns:a16="http://schemas.microsoft.com/office/drawing/2014/main" id="{F0002ACC-5ECE-4F33-BDBB-DB1B644766CD}"/>
              </a:ext>
            </a:extLst>
          </p:cNvPr>
          <p:cNvSpPr>
            <a:spLocks xmlns:a="http://schemas.openxmlformats.org/drawingml/2006/main" noGrp="1"/>
          </p:cNvSpPr>
          <p:nvPr/>
        </p:nvSpPr>
        <p:spPr>
          <a:xfrm xmlns:a="http://schemas.openxmlformats.org/drawingml/2006/main">
            <a:off x="685800" y="1762125"/>
            <a:ext cx="203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4CC9F0"/>
                </a:solidFill>
                <a:latin typeface="Helvetica Neue"/>
                <a:ea typeface="Helvetica Neue"/>
                <a:cs typeface="Helvetica Neue"/>
              </a:defRPr>
            </a:pPr>
            <a:r>
              <a:rPr sz="975" b="1">
                <a:solidFill>
                  <a:srgbClr val="4CC9F0"/>
                </a:solidFill>
                <a:latin typeface="Helvetica Neue"/>
                <a:ea typeface="Helvetica Neue"/>
                <a:cs typeface="Helvetica Neue"/>
              </a:rPr>
              <a:t>LIVE DATA</a:t>
            </a:r>
          </a:p>
        </p:txBody>
      </p:sp>
      <p:sp>
        <p:nvSpPr>
          <p:cNvPr id="8" name="">
            <a:extLst xmlns:a="http://schemas.openxmlformats.org/drawingml/2006/main">
              <a:ext uri="{FF2B5EF4-FFF2-40B4-BE49-F238E27FC236}">
                <a16:creationId xmlns:a16="http://schemas.microsoft.com/office/drawing/2014/main" id="{4D79E4D2-8D08-4E7D-B11A-FDA8428CFF41}"/>
              </a:ext>
            </a:extLst>
          </p:cNvPr>
          <p:cNvSpPr>
            <a:spLocks xmlns:a="http://schemas.openxmlformats.org/drawingml/2006/main" noGrp="1"/>
          </p:cNvSpPr>
          <p:nvPr/>
        </p:nvSpPr>
        <p:spPr>
          <a:xfrm xmlns:a="http://schemas.openxmlformats.org/drawingml/2006/main">
            <a:off x="685800" y="209550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Open-Meteo</a:t>
            </a:r>
          </a:p>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current and forecast</a:t>
            </a:r>
          </a:p>
        </p:txBody>
      </p:sp>
      <p:sp>
        <p:nvSpPr>
          <p:cNvPr id="9" name="">
            <a:extLst xmlns:a="http://schemas.openxmlformats.org/drawingml/2006/main">
              <a:ext uri="{FF2B5EF4-FFF2-40B4-BE49-F238E27FC236}">
                <a16:creationId xmlns:a16="http://schemas.microsoft.com/office/drawing/2014/main" id="{C199B944-372E-475B-8F85-3F8A8A9C9FF1}"/>
              </a:ext>
            </a:extLst>
          </p:cNvPr>
          <p:cNvSpPr>
            <a:spLocks xmlns:a="http://schemas.openxmlformats.org/drawingml/2006/main" noGrp="1"/>
          </p:cNvSpPr>
          <p:nvPr/>
        </p:nvSpPr>
        <p:spPr>
          <a:xfrm xmlns:a="http://schemas.openxmlformats.org/drawingml/2006/main">
            <a:off x="2971800" y="2057400"/>
            <a:ext cx="209550" cy="228600"/>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9121F1B-4265-4E98-BB0E-442F89A85D01}"/>
              </a:ext>
            </a:extLst>
          </p:cNvPr>
          <p:cNvSpPr>
            <a:spLocks xmlns:a="http://schemas.openxmlformats.org/drawingml/2006/main" noGrp="1"/>
          </p:cNvSpPr>
          <p:nvPr/>
        </p:nvSpPr>
        <p:spPr>
          <a:xfrm xmlns:a="http://schemas.openxmlformats.org/drawingml/2006/main">
            <a:off x="3295650" y="1581150"/>
            <a:ext cx="2381250" cy="1200150"/>
          </a:xfrm>
          <a:prstGeom xmlns:a="http://schemas.openxmlformats.org/drawingml/2006/main" prst="roundRect">
            <a:avLst>
              <a:gd name="adj" fmla="val 9524"/>
            </a:avLst>
          </a:prstGeom>
          <a:solidFill xmlns:a="http://schemas.openxmlformats.org/drawingml/2006/main">
            <a:srgbClr val="171717"/>
          </a:solidFill>
          <a:ln xmlns:a="http://schemas.openxmlformats.org/drawingml/2006/main" w="9525">
            <a:solidFill>
              <a:srgbClr val="FFD166"/>
            </a:solidFill>
            <a:prstDash val="solid"/>
          </a:ln>
        </p:spPr>
      </p:sp>
      <p:sp>
        <p:nvSpPr>
          <p:cNvPr id="11" name="">
            <a:extLst xmlns:a="http://schemas.openxmlformats.org/drawingml/2006/main">
              <a:ext uri="{FF2B5EF4-FFF2-40B4-BE49-F238E27FC236}">
                <a16:creationId xmlns:a16="http://schemas.microsoft.com/office/drawing/2014/main" id="{3848A7FE-862F-4D0C-833B-5F3C5404072C}"/>
              </a:ext>
            </a:extLst>
          </p:cNvPr>
          <p:cNvSpPr>
            <a:spLocks xmlns:a="http://schemas.openxmlformats.org/drawingml/2006/main" noGrp="1"/>
          </p:cNvSpPr>
          <p:nvPr/>
        </p:nvSpPr>
        <p:spPr>
          <a:xfrm xmlns:a="http://schemas.openxmlformats.org/drawingml/2006/main">
            <a:off x="3467100" y="1762125"/>
            <a:ext cx="203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D166"/>
                </a:solidFill>
                <a:latin typeface="Helvetica Neue"/>
                <a:ea typeface="Helvetica Neue"/>
                <a:cs typeface="Helvetica Neue"/>
              </a:defRPr>
            </a:pPr>
            <a:r>
              <a:rPr sz="975" b="1">
                <a:solidFill>
                  <a:srgbClr val="FFD166"/>
                </a:solidFill>
                <a:latin typeface="Helvetica Neue"/>
                <a:ea typeface="Helvetica Neue"/>
                <a:cs typeface="Helvetica Neue"/>
              </a:rPr>
              <a:t>FEATURES</a:t>
            </a:r>
          </a:p>
        </p:txBody>
      </p:sp>
      <p:sp>
        <p:nvSpPr>
          <p:cNvPr id="12" name="">
            <a:extLst xmlns:a="http://schemas.openxmlformats.org/drawingml/2006/main">
              <a:ext uri="{FF2B5EF4-FFF2-40B4-BE49-F238E27FC236}">
                <a16:creationId xmlns:a16="http://schemas.microsoft.com/office/drawing/2014/main" id="{90219CCC-C3EC-496B-96F4-1523BFF119EE}"/>
              </a:ext>
            </a:extLst>
          </p:cNvPr>
          <p:cNvSpPr>
            <a:spLocks xmlns:a="http://schemas.openxmlformats.org/drawingml/2006/main" noGrp="1"/>
          </p:cNvSpPr>
          <p:nvPr/>
        </p:nvSpPr>
        <p:spPr>
          <a:xfrm xmlns:a="http://schemas.openxmlformats.org/drawingml/2006/main">
            <a:off x="3467100" y="209550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Temperature, humidity,</a:t>
            </a:r>
          </a:p>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wind, radiation and time</a:t>
            </a:r>
          </a:p>
        </p:txBody>
      </p:sp>
      <p:sp>
        <p:nvSpPr>
          <p:cNvPr id="13" name="">
            <a:extLst xmlns:a="http://schemas.openxmlformats.org/drawingml/2006/main">
              <a:ext uri="{FF2B5EF4-FFF2-40B4-BE49-F238E27FC236}">
                <a16:creationId xmlns:a16="http://schemas.microsoft.com/office/drawing/2014/main" id="{E92B984D-D1EE-417D-8170-95B1F7006FA9}"/>
              </a:ext>
            </a:extLst>
          </p:cNvPr>
          <p:cNvSpPr>
            <a:spLocks xmlns:a="http://schemas.openxmlformats.org/drawingml/2006/main" noGrp="1"/>
          </p:cNvSpPr>
          <p:nvPr/>
        </p:nvSpPr>
        <p:spPr>
          <a:xfrm xmlns:a="http://schemas.openxmlformats.org/drawingml/2006/main">
            <a:off x="5753100" y="2057400"/>
            <a:ext cx="209550" cy="228600"/>
          </a:xfrm>
          <a:prstGeom xmlns:a="http://schemas.openxmlformats.org/drawingml/2006/main" prst="rightArrow">
            <a:avLst/>
          </a:prstGeom>
          <a:solidFill xmlns:a="http://schemas.openxmlformats.org/drawingml/2006/main">
            <a:srgbClr val="FFD16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E64A109-6585-4F51-B1F2-D84A44EE33AB}"/>
              </a:ext>
            </a:extLst>
          </p:cNvPr>
          <p:cNvSpPr>
            <a:spLocks xmlns:a="http://schemas.openxmlformats.org/drawingml/2006/main" noGrp="1"/>
          </p:cNvSpPr>
          <p:nvPr/>
        </p:nvSpPr>
        <p:spPr>
          <a:xfrm xmlns:a="http://schemas.openxmlformats.org/drawingml/2006/main">
            <a:off x="6076950" y="1581150"/>
            <a:ext cx="2381250" cy="1200150"/>
          </a:xfrm>
          <a:prstGeom xmlns:a="http://schemas.openxmlformats.org/drawingml/2006/main" prst="roundRect">
            <a:avLst>
              <a:gd name="adj" fmla="val 9524"/>
            </a:avLst>
          </a:prstGeom>
          <a:solidFill xmlns:a="http://schemas.openxmlformats.org/drawingml/2006/main">
            <a:srgbClr val="08172D"/>
          </a:solidFill>
          <a:ln xmlns:a="http://schemas.openxmlformats.org/drawingml/2006/main" w="9525">
            <a:solidFill>
              <a:srgbClr val="FF9F1C"/>
            </a:solidFill>
            <a:prstDash val="solid"/>
          </a:ln>
        </p:spPr>
      </p:sp>
      <p:sp>
        <p:nvSpPr>
          <p:cNvPr id="15" name="">
            <a:extLst xmlns:a="http://schemas.openxmlformats.org/drawingml/2006/main">
              <a:ext uri="{FF2B5EF4-FFF2-40B4-BE49-F238E27FC236}">
                <a16:creationId xmlns:a16="http://schemas.microsoft.com/office/drawing/2014/main" id="{C11BFF5C-2F87-4F81-BE78-25C77C5BE5DB}"/>
              </a:ext>
            </a:extLst>
          </p:cNvPr>
          <p:cNvSpPr>
            <a:spLocks xmlns:a="http://schemas.openxmlformats.org/drawingml/2006/main" noGrp="1"/>
          </p:cNvSpPr>
          <p:nvPr/>
        </p:nvSpPr>
        <p:spPr>
          <a:xfrm xmlns:a="http://schemas.openxmlformats.org/drawingml/2006/main">
            <a:off x="6248400" y="1762125"/>
            <a:ext cx="203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1C"/>
                </a:solidFill>
                <a:latin typeface="Helvetica Neue"/>
                <a:ea typeface="Helvetica Neue"/>
                <a:cs typeface="Helvetica Neue"/>
              </a:defRPr>
            </a:pPr>
            <a:r>
              <a:rPr sz="975" b="1">
                <a:solidFill>
                  <a:srgbClr val="FF9F1C"/>
                </a:solidFill>
                <a:latin typeface="Helvetica Neue"/>
                <a:ea typeface="Helvetica Neue"/>
                <a:cs typeface="Helvetica Neue"/>
              </a:rPr>
              <a:t>RISK ENGINE</a:t>
            </a:r>
          </a:p>
        </p:txBody>
      </p:sp>
      <p:sp>
        <p:nvSpPr>
          <p:cNvPr id="16" name="">
            <a:extLst xmlns:a="http://schemas.openxmlformats.org/drawingml/2006/main">
              <a:ext uri="{FF2B5EF4-FFF2-40B4-BE49-F238E27FC236}">
                <a16:creationId xmlns:a16="http://schemas.microsoft.com/office/drawing/2014/main" id="{C70CEA0F-C47A-47EA-BD92-0654EA6DD154}"/>
              </a:ext>
            </a:extLst>
          </p:cNvPr>
          <p:cNvSpPr>
            <a:spLocks xmlns:a="http://schemas.openxmlformats.org/drawingml/2006/main" noGrp="1"/>
          </p:cNvSpPr>
          <p:nvPr/>
        </p:nvSpPr>
        <p:spPr>
          <a:xfrm xmlns:a="http://schemas.openxmlformats.org/drawingml/2006/main">
            <a:off x="6248400" y="209550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HTSI plus 14-feature</a:t>
            </a:r>
          </a:p>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logistic regression</a:t>
            </a:r>
          </a:p>
        </p:txBody>
      </p:sp>
      <p:sp>
        <p:nvSpPr>
          <p:cNvPr id="17" name="">
            <a:extLst xmlns:a="http://schemas.openxmlformats.org/drawingml/2006/main">
              <a:ext uri="{FF2B5EF4-FFF2-40B4-BE49-F238E27FC236}">
                <a16:creationId xmlns:a16="http://schemas.microsoft.com/office/drawing/2014/main" id="{09180E64-4065-4524-B95F-D01BE5B47BF6}"/>
              </a:ext>
            </a:extLst>
          </p:cNvPr>
          <p:cNvSpPr>
            <a:spLocks xmlns:a="http://schemas.openxmlformats.org/drawingml/2006/main" noGrp="1"/>
          </p:cNvSpPr>
          <p:nvPr/>
        </p:nvSpPr>
        <p:spPr>
          <a:xfrm xmlns:a="http://schemas.openxmlformats.org/drawingml/2006/main">
            <a:off x="8534400" y="2057400"/>
            <a:ext cx="209550" cy="228600"/>
          </a:xfrm>
          <a:prstGeom xmlns:a="http://schemas.openxmlformats.org/drawingml/2006/main" prst="rightArrow">
            <a:avLst/>
          </a:prstGeom>
          <a:solidFill xmlns:a="http://schemas.openxmlformats.org/drawingml/2006/main">
            <a:srgbClr val="FF9F1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9F2B093-58D3-423E-8C84-6857BB5E4B9B}"/>
              </a:ext>
            </a:extLst>
          </p:cNvPr>
          <p:cNvSpPr>
            <a:spLocks xmlns:a="http://schemas.openxmlformats.org/drawingml/2006/main" noGrp="1"/>
          </p:cNvSpPr>
          <p:nvPr/>
        </p:nvSpPr>
        <p:spPr>
          <a:xfrm xmlns:a="http://schemas.openxmlformats.org/drawingml/2006/main">
            <a:off x="8858250" y="1581150"/>
            <a:ext cx="2381250" cy="1200150"/>
          </a:xfrm>
          <a:prstGeom xmlns:a="http://schemas.openxmlformats.org/drawingml/2006/main" prst="roundRect">
            <a:avLst>
              <a:gd name="adj" fmla="val 9524"/>
            </a:avLst>
          </a:prstGeom>
          <a:solidFill xmlns:a="http://schemas.openxmlformats.org/drawingml/2006/main">
            <a:srgbClr val="171717"/>
          </a:solidFill>
          <a:ln xmlns:a="http://schemas.openxmlformats.org/drawingml/2006/main" w="9525">
            <a:solidFill>
              <a:srgbClr val="20C878"/>
            </a:solidFill>
            <a:prstDash val="solid"/>
          </a:ln>
        </p:spPr>
      </p:sp>
      <p:sp>
        <p:nvSpPr>
          <p:cNvPr id="19" name="">
            <a:extLst xmlns:a="http://schemas.openxmlformats.org/drawingml/2006/main">
              <a:ext uri="{FF2B5EF4-FFF2-40B4-BE49-F238E27FC236}">
                <a16:creationId xmlns:a16="http://schemas.microsoft.com/office/drawing/2014/main" id="{FDE2F157-E55D-4218-BB81-1B9D3EE30CD6}"/>
              </a:ext>
            </a:extLst>
          </p:cNvPr>
          <p:cNvSpPr>
            <a:spLocks xmlns:a="http://schemas.openxmlformats.org/drawingml/2006/main" noGrp="1"/>
          </p:cNvSpPr>
          <p:nvPr/>
        </p:nvSpPr>
        <p:spPr>
          <a:xfrm xmlns:a="http://schemas.openxmlformats.org/drawingml/2006/main">
            <a:off x="9029700" y="1762125"/>
            <a:ext cx="20383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20C878"/>
                </a:solidFill>
                <a:latin typeface="Helvetica Neue"/>
                <a:ea typeface="Helvetica Neue"/>
                <a:cs typeface="Helvetica Neue"/>
              </a:defRPr>
            </a:pPr>
            <a:r>
              <a:rPr sz="975" b="1">
                <a:solidFill>
                  <a:srgbClr val="20C878"/>
                </a:solidFill>
                <a:latin typeface="Helvetica Neue"/>
                <a:ea typeface="Helvetica Neue"/>
                <a:cs typeface="Helvetica Neue"/>
              </a:rPr>
              <a:t>OUTPUT</a:t>
            </a:r>
          </a:p>
        </p:txBody>
      </p:sp>
      <p:sp>
        <p:nvSpPr>
          <p:cNvPr id="20" name="">
            <a:extLst xmlns:a="http://schemas.openxmlformats.org/drawingml/2006/main">
              <a:ext uri="{FF2B5EF4-FFF2-40B4-BE49-F238E27FC236}">
                <a16:creationId xmlns:a16="http://schemas.microsoft.com/office/drawing/2014/main" id="{D928995E-AC40-4EFA-91EC-E2CB391E4BA4}"/>
              </a:ext>
            </a:extLst>
          </p:cNvPr>
          <p:cNvSpPr>
            <a:spLocks xmlns:a="http://schemas.openxmlformats.org/drawingml/2006/main" noGrp="1"/>
          </p:cNvSpPr>
          <p:nvPr/>
        </p:nvSpPr>
        <p:spPr>
          <a:xfrm xmlns:a="http://schemas.openxmlformats.org/drawingml/2006/main">
            <a:off x="9029700" y="2095500"/>
            <a:ext cx="2038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25"/>
          </a:bodyPr>
          <a:lstStyle xmlns:a="http://schemas.openxmlformats.org/drawingml/2006/main"/>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Map, explanation,</a:t>
            </a:r>
          </a:p>
          <a:p xmlns:a="http://schemas.openxmlformats.org/drawingml/2006/main">
            <a:pPr algn="l">
              <a:lnSpc>
                <a:spcPct val="105000"/>
              </a:lnSpc>
              <a:buNone/>
              <a:defRPr sz="1350" b="1">
                <a:solidFill>
                  <a:srgbClr val="F8FAFC"/>
                </a:solidFill>
                <a:latin typeface="Helvetica Neue"/>
                <a:ea typeface="Helvetica Neue"/>
                <a:cs typeface="Helvetica Neue"/>
              </a:defRPr>
            </a:pPr>
            <a:r>
              <a:rPr sz="1350" b="1">
                <a:solidFill>
                  <a:srgbClr val="F8FAFC"/>
                </a:solidFill>
                <a:latin typeface="Helvetica Neue"/>
                <a:ea typeface="Helvetica Neue"/>
                <a:cs typeface="Helvetica Neue"/>
              </a:rPr>
              <a:t>warning and audit history</a:t>
            </a:r>
          </a:p>
        </p:txBody>
      </p:sp>
      <p:sp>
        <p:nvSpPr>
          <p:cNvPr id="21" name="">
            <a:extLst xmlns:a="http://schemas.openxmlformats.org/drawingml/2006/main">
              <a:ext uri="{FF2B5EF4-FFF2-40B4-BE49-F238E27FC236}">
                <a16:creationId xmlns:a16="http://schemas.microsoft.com/office/drawing/2014/main" id="{970221F8-8E8C-426F-A2A7-16435C41A8A9}"/>
              </a:ext>
            </a:extLst>
          </p:cNvPr>
          <p:cNvSpPr>
            <a:spLocks xmlns:a="http://schemas.openxmlformats.org/drawingml/2006/main" noGrp="1"/>
          </p:cNvSpPr>
          <p:nvPr/>
        </p:nvSpPr>
        <p:spPr>
          <a:xfrm xmlns:a="http://schemas.openxmlformats.org/drawingml/2006/main">
            <a:off x="495300" y="3162300"/>
            <a:ext cx="6000750" cy="2857500"/>
          </a:xfrm>
          <a:prstGeom xmlns:a="http://schemas.openxmlformats.org/drawingml/2006/main" prst="roundRect">
            <a:avLst>
              <a:gd name="adj" fmla="val 5333"/>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63" name=""/>
          <p:cNvPicPr>
            <a:picLocks xmlns:a="http://schemas.openxmlformats.org/drawingml/2006/main" noChangeAspect="1"/>
          </p:cNvPicPr>
          <p:nvPr/>
        </p:nvPicPr>
        <p:blipFill>
          <a:blip xmlns:r="http://schemas.openxmlformats.org/officeDocument/2006/relationships" xmlns:a="http://schemas.openxmlformats.org/drawingml/2006/main" r:embed="R5d690fce8bfd497b"/>
          <a:srcRect xmlns:a="http://schemas.openxmlformats.org/drawingml/2006/main" l="0" t="12173" r="0" b="12173"/>
          <a:stretch xmlns:a="http://schemas.openxmlformats.org/drawingml/2006/main">
            <a:fillRect l="0" t="0" r="0" b="0"/>
          </a:stretch>
        </p:blipFill>
        <p:spPr>
          <a:xfrm xmlns:a="http://schemas.openxmlformats.org/drawingml/2006/main">
            <a:off x="514350" y="3181350"/>
            <a:ext cx="5962650" cy="2819400"/>
          </a:xfrm>
          <a:prstGeom xmlns:a="http://schemas.openxmlformats.org/drawingml/2006/main" prst="roundRect">
            <a:avLst>
              <a:gd name="adj" fmla="val 5405"/>
            </a:avLst>
          </a:prstGeom>
        </p:spPr>
      </p:pic>
      <p:sp>
        <p:nvSpPr>
          <p:cNvPr id="23" name="">
            <a:extLst xmlns:a="http://schemas.openxmlformats.org/drawingml/2006/main">
              <a:ext uri="{FF2B5EF4-FFF2-40B4-BE49-F238E27FC236}">
                <a16:creationId xmlns:a16="http://schemas.microsoft.com/office/drawing/2014/main" id="{CF77DFB7-B5B6-45A4-8B32-0A7C17695556}"/>
              </a:ext>
            </a:extLst>
          </p:cNvPr>
          <p:cNvSpPr>
            <a:spLocks xmlns:a="http://schemas.openxmlformats.org/drawingml/2006/main" noGrp="1"/>
          </p:cNvSpPr>
          <p:nvPr/>
        </p:nvSpPr>
        <p:spPr>
          <a:xfrm xmlns:a="http://schemas.openxmlformats.org/drawingml/2006/main">
            <a:off x="6819900" y="3181350"/>
            <a:ext cx="2133600" cy="876300"/>
          </a:xfrm>
          <a:prstGeom xmlns:a="http://schemas.openxmlformats.org/drawingml/2006/main" prst="roundRect">
            <a:avLst>
              <a:gd name="adj" fmla="val 13043"/>
            </a:avLst>
          </a:prstGeom>
          <a:solidFill xmlns:a="http://schemas.openxmlformats.org/drawingml/2006/main">
            <a:srgbClr val="171717"/>
          </a:solidFill>
          <a:ln xmlns:a="http://schemas.openxmlformats.org/drawingml/2006/main" w="9525">
            <a:solidFill>
              <a:srgbClr val="343840"/>
            </a:solidFill>
            <a:prstDash val="solid"/>
          </a:ln>
        </p:spPr>
      </p:sp>
      <p:sp>
        <p:nvSpPr>
          <p:cNvPr id="24" name="">
            <a:extLst xmlns:a="http://schemas.openxmlformats.org/drawingml/2006/main">
              <a:ext uri="{FF2B5EF4-FFF2-40B4-BE49-F238E27FC236}">
                <a16:creationId xmlns:a16="http://schemas.microsoft.com/office/drawing/2014/main" id="{D7894F21-F3DB-4F39-A21C-B7D5C0913EBB}"/>
              </a:ext>
            </a:extLst>
          </p:cNvPr>
          <p:cNvSpPr>
            <a:spLocks xmlns:a="http://schemas.openxmlformats.org/drawingml/2006/main" noGrp="1"/>
          </p:cNvSpPr>
          <p:nvPr/>
        </p:nvSpPr>
        <p:spPr>
          <a:xfrm xmlns:a="http://schemas.openxmlformats.org/drawingml/2006/main">
            <a:off x="6819900" y="3181350"/>
            <a:ext cx="47625" cy="876300"/>
          </a:xfrm>
          <a:prstGeom xmlns:a="http://schemas.openxmlformats.org/drawingml/2006/main" prst="roundRect">
            <a:avLst>
              <a:gd name="adj" fmla="val 50000"/>
            </a:avLst>
          </a:prstGeom>
          <a:solidFill xmlns:a="http://schemas.openxmlformats.org/drawingml/2006/main">
            <a:srgbClr val="FF9F1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54C8BAF-D269-4A64-B694-9A650331D546}"/>
              </a:ext>
            </a:extLst>
          </p:cNvPr>
          <p:cNvSpPr>
            <a:spLocks xmlns:a="http://schemas.openxmlformats.org/drawingml/2006/main" noGrp="1"/>
          </p:cNvSpPr>
          <p:nvPr/>
        </p:nvSpPr>
        <p:spPr>
          <a:xfrm xmlns:a="http://schemas.openxmlformats.org/drawingml/2006/main">
            <a:off x="6991350" y="330517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defRPr sz="2400" b="1">
                <a:solidFill>
                  <a:srgbClr val="FF9F1C"/>
                </a:solidFill>
                <a:latin typeface="Helvetica Neue"/>
                <a:ea typeface="Helvetica Neue"/>
                <a:cs typeface="Helvetica Neue"/>
              </a:defRPr>
            </a:pPr>
            <a:r>
              <a:rPr sz="2400" b="1">
                <a:solidFill>
                  <a:srgbClr val="FF9F1C"/>
                </a:solidFill>
                <a:latin typeface="Helvetica Neue"/>
                <a:ea typeface="Helvetica Neue"/>
                <a:cs typeface="Helvetica Neue"/>
              </a:rPr>
              <a:t>233,760</a:t>
            </a:r>
          </a:p>
        </p:txBody>
      </p:sp>
      <p:sp>
        <p:nvSpPr>
          <p:cNvPr id="26" name="">
            <a:extLst xmlns:a="http://schemas.openxmlformats.org/drawingml/2006/main">
              <a:ext uri="{FF2B5EF4-FFF2-40B4-BE49-F238E27FC236}">
                <a16:creationId xmlns:a16="http://schemas.microsoft.com/office/drawing/2014/main" id="{911C23DB-3887-4365-B778-35195097B66B}"/>
              </a:ext>
            </a:extLst>
          </p:cNvPr>
          <p:cNvSpPr>
            <a:spLocks xmlns:a="http://schemas.openxmlformats.org/drawingml/2006/main" noGrp="1"/>
          </p:cNvSpPr>
          <p:nvPr/>
        </p:nvSpPr>
        <p:spPr>
          <a:xfrm xmlns:a="http://schemas.openxmlformats.org/drawingml/2006/main">
            <a:off x="6991350" y="37433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historical weather rows</a:t>
            </a:r>
          </a:p>
        </p:txBody>
      </p:sp>
      <p:sp>
        <p:nvSpPr>
          <p:cNvPr id="27" name="">
            <a:extLst xmlns:a="http://schemas.openxmlformats.org/drawingml/2006/main">
              <a:ext uri="{FF2B5EF4-FFF2-40B4-BE49-F238E27FC236}">
                <a16:creationId xmlns:a16="http://schemas.microsoft.com/office/drawing/2014/main" id="{E343B932-3D58-47C7-8927-B5048C87FA60}"/>
              </a:ext>
            </a:extLst>
          </p:cNvPr>
          <p:cNvSpPr>
            <a:spLocks xmlns:a="http://schemas.openxmlformats.org/drawingml/2006/main" noGrp="1"/>
          </p:cNvSpPr>
          <p:nvPr/>
        </p:nvSpPr>
        <p:spPr>
          <a:xfrm xmlns:a="http://schemas.openxmlformats.org/drawingml/2006/main">
            <a:off x="9124950" y="3181350"/>
            <a:ext cx="2133600" cy="876300"/>
          </a:xfrm>
          <a:prstGeom xmlns:a="http://schemas.openxmlformats.org/drawingml/2006/main" prst="roundRect">
            <a:avLst>
              <a:gd name="adj" fmla="val 13043"/>
            </a:avLst>
          </a:prstGeom>
          <a:solidFill xmlns:a="http://schemas.openxmlformats.org/drawingml/2006/main">
            <a:srgbClr val="171717"/>
          </a:solidFill>
          <a:ln xmlns:a="http://schemas.openxmlformats.org/drawingml/2006/main" w="9525">
            <a:solidFill>
              <a:srgbClr val="343840"/>
            </a:solidFill>
            <a:prstDash val="solid"/>
          </a:ln>
        </p:spPr>
      </p:sp>
      <p:sp>
        <p:nvSpPr>
          <p:cNvPr id="28" name="">
            <a:extLst xmlns:a="http://schemas.openxmlformats.org/drawingml/2006/main">
              <a:ext uri="{FF2B5EF4-FFF2-40B4-BE49-F238E27FC236}">
                <a16:creationId xmlns:a16="http://schemas.microsoft.com/office/drawing/2014/main" id="{0688888F-236F-46CE-A406-BB49B0E67D5D}"/>
              </a:ext>
            </a:extLst>
          </p:cNvPr>
          <p:cNvSpPr>
            <a:spLocks xmlns:a="http://schemas.openxmlformats.org/drawingml/2006/main" noGrp="1"/>
          </p:cNvSpPr>
          <p:nvPr/>
        </p:nvSpPr>
        <p:spPr>
          <a:xfrm xmlns:a="http://schemas.openxmlformats.org/drawingml/2006/main">
            <a:off x="9124950" y="3181350"/>
            <a:ext cx="47625" cy="876300"/>
          </a:xfrm>
          <a:prstGeom xmlns:a="http://schemas.openxmlformats.org/drawingml/2006/main" prst="roundRect">
            <a:avLst>
              <a:gd name="adj" fmla="val 50000"/>
            </a:avLst>
          </a:prstGeom>
          <a:solidFill xmlns:a="http://schemas.openxmlformats.org/drawingml/2006/main">
            <a:srgbClr val="20C87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8090DBE-4706-43EA-9695-21C4E8B3556E}"/>
              </a:ext>
            </a:extLst>
          </p:cNvPr>
          <p:cNvSpPr>
            <a:spLocks xmlns:a="http://schemas.openxmlformats.org/drawingml/2006/main" noGrp="1"/>
          </p:cNvSpPr>
          <p:nvPr/>
        </p:nvSpPr>
        <p:spPr>
          <a:xfrm xmlns:a="http://schemas.openxmlformats.org/drawingml/2006/main">
            <a:off x="9296400" y="330517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defRPr sz="2400" b="1">
                <a:solidFill>
                  <a:srgbClr val="20C878"/>
                </a:solidFill>
                <a:latin typeface="Helvetica Neue"/>
                <a:ea typeface="Helvetica Neue"/>
                <a:cs typeface="Helvetica Neue"/>
              </a:defRPr>
            </a:pPr>
            <a:r>
              <a:rPr sz="2400" b="1">
                <a:solidFill>
                  <a:srgbClr val="20C878"/>
                </a:solidFill>
                <a:latin typeface="Helvetica Neue"/>
                <a:ea typeface="Helvetica Neue"/>
                <a:cs typeface="Helvetica Neue"/>
              </a:rPr>
              <a:t>93.6%</a:t>
            </a:r>
          </a:p>
        </p:txBody>
      </p:sp>
      <p:sp>
        <p:nvSpPr>
          <p:cNvPr id="30" name="">
            <a:extLst xmlns:a="http://schemas.openxmlformats.org/drawingml/2006/main">
              <a:ext uri="{FF2B5EF4-FFF2-40B4-BE49-F238E27FC236}">
                <a16:creationId xmlns:a16="http://schemas.microsoft.com/office/drawing/2014/main" id="{ABB4496D-1F2C-4CF5-A6D9-18AB896AF1FD}"/>
              </a:ext>
            </a:extLst>
          </p:cNvPr>
          <p:cNvSpPr>
            <a:spLocks xmlns:a="http://schemas.openxmlformats.org/drawingml/2006/main" noGrp="1"/>
          </p:cNvSpPr>
          <p:nvPr/>
        </p:nvSpPr>
        <p:spPr>
          <a:xfrm xmlns:a="http://schemas.openxmlformats.org/drawingml/2006/main">
            <a:off x="9296400" y="374332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untouched 2025 accuracy</a:t>
            </a:r>
          </a:p>
        </p:txBody>
      </p:sp>
      <p:sp>
        <p:nvSpPr>
          <p:cNvPr id="31" name="">
            <a:extLst xmlns:a="http://schemas.openxmlformats.org/drawingml/2006/main">
              <a:ext uri="{FF2B5EF4-FFF2-40B4-BE49-F238E27FC236}">
                <a16:creationId xmlns:a16="http://schemas.microsoft.com/office/drawing/2014/main" id="{5993686B-F2DB-480D-A277-40206540C3D9}"/>
              </a:ext>
            </a:extLst>
          </p:cNvPr>
          <p:cNvSpPr>
            <a:spLocks xmlns:a="http://schemas.openxmlformats.org/drawingml/2006/main" noGrp="1"/>
          </p:cNvSpPr>
          <p:nvPr/>
        </p:nvSpPr>
        <p:spPr>
          <a:xfrm xmlns:a="http://schemas.openxmlformats.org/drawingml/2006/main">
            <a:off x="6819900" y="4267200"/>
            <a:ext cx="2133600" cy="876300"/>
          </a:xfrm>
          <a:prstGeom xmlns:a="http://schemas.openxmlformats.org/drawingml/2006/main" prst="roundRect">
            <a:avLst>
              <a:gd name="adj" fmla="val 13043"/>
            </a:avLst>
          </a:prstGeom>
          <a:solidFill xmlns:a="http://schemas.openxmlformats.org/drawingml/2006/main">
            <a:srgbClr val="171717"/>
          </a:solidFill>
          <a:ln xmlns:a="http://schemas.openxmlformats.org/drawingml/2006/main" w="9525">
            <a:solidFill>
              <a:srgbClr val="343840"/>
            </a:solidFill>
            <a:prstDash val="solid"/>
          </a:ln>
        </p:spPr>
      </p:sp>
      <p:sp>
        <p:nvSpPr>
          <p:cNvPr id="32" name="">
            <a:extLst xmlns:a="http://schemas.openxmlformats.org/drawingml/2006/main">
              <a:ext uri="{FF2B5EF4-FFF2-40B4-BE49-F238E27FC236}">
                <a16:creationId xmlns:a16="http://schemas.microsoft.com/office/drawing/2014/main" id="{805B368D-D057-46E1-898A-2303188ED4F8}"/>
              </a:ext>
            </a:extLst>
          </p:cNvPr>
          <p:cNvSpPr>
            <a:spLocks xmlns:a="http://schemas.openxmlformats.org/drawingml/2006/main" noGrp="1"/>
          </p:cNvSpPr>
          <p:nvPr/>
        </p:nvSpPr>
        <p:spPr>
          <a:xfrm xmlns:a="http://schemas.openxmlformats.org/drawingml/2006/main">
            <a:off x="6819900" y="4267200"/>
            <a:ext cx="47625" cy="876300"/>
          </a:xfrm>
          <a:prstGeom xmlns:a="http://schemas.openxmlformats.org/drawingml/2006/main" prst="roundRect">
            <a:avLst>
              <a:gd name="adj" fmla="val 50000"/>
            </a:avLst>
          </a:prstGeom>
          <a:solidFill xmlns:a="http://schemas.openxmlformats.org/drawingml/2006/main">
            <a:srgbClr val="4CC9F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6FACFD0-962B-42B4-B67A-12621DA3272E}"/>
              </a:ext>
            </a:extLst>
          </p:cNvPr>
          <p:cNvSpPr>
            <a:spLocks xmlns:a="http://schemas.openxmlformats.org/drawingml/2006/main" noGrp="1"/>
          </p:cNvSpPr>
          <p:nvPr/>
        </p:nvSpPr>
        <p:spPr>
          <a:xfrm xmlns:a="http://schemas.openxmlformats.org/drawingml/2006/main">
            <a:off x="6991350" y="43910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defRPr sz="2400" b="1">
                <a:solidFill>
                  <a:srgbClr val="4CC9F0"/>
                </a:solidFill>
                <a:latin typeface="Helvetica Neue"/>
                <a:ea typeface="Helvetica Neue"/>
                <a:cs typeface="Helvetica Neue"/>
              </a:defRPr>
            </a:pPr>
            <a:r>
              <a:rPr sz="2400" b="1">
                <a:solidFill>
                  <a:srgbClr val="4CC9F0"/>
                </a:solidFill>
                <a:latin typeface="Helvetica Neue"/>
                <a:ea typeface="Helvetica Neue"/>
                <a:cs typeface="Helvetica Neue"/>
              </a:rPr>
              <a:t>95.0%</a:t>
            </a:r>
          </a:p>
        </p:txBody>
      </p:sp>
      <p:sp>
        <p:nvSpPr>
          <p:cNvPr id="34" name="">
            <a:extLst xmlns:a="http://schemas.openxmlformats.org/drawingml/2006/main">
              <a:ext uri="{FF2B5EF4-FFF2-40B4-BE49-F238E27FC236}">
                <a16:creationId xmlns:a16="http://schemas.microsoft.com/office/drawing/2014/main" id="{21066ABF-514F-4B97-B587-8FD2E3CBC9FB}"/>
              </a:ext>
            </a:extLst>
          </p:cNvPr>
          <p:cNvSpPr>
            <a:spLocks xmlns:a="http://schemas.openxmlformats.org/drawingml/2006/main" noGrp="1"/>
          </p:cNvSpPr>
          <p:nvPr/>
        </p:nvSpPr>
        <p:spPr>
          <a:xfrm xmlns:a="http://schemas.openxmlformats.org/drawingml/2006/main">
            <a:off x="6991350" y="482917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High+ recall</a:t>
            </a:r>
          </a:p>
        </p:txBody>
      </p:sp>
      <p:sp>
        <p:nvSpPr>
          <p:cNvPr id="35" name="">
            <a:extLst xmlns:a="http://schemas.openxmlformats.org/drawingml/2006/main">
              <a:ext uri="{FF2B5EF4-FFF2-40B4-BE49-F238E27FC236}">
                <a16:creationId xmlns:a16="http://schemas.microsoft.com/office/drawing/2014/main" id="{7F1EE1F5-5F8A-4BB3-BB4D-EF3184EE476C}"/>
              </a:ext>
            </a:extLst>
          </p:cNvPr>
          <p:cNvSpPr>
            <a:spLocks xmlns:a="http://schemas.openxmlformats.org/drawingml/2006/main" noGrp="1"/>
          </p:cNvSpPr>
          <p:nvPr/>
        </p:nvSpPr>
        <p:spPr>
          <a:xfrm xmlns:a="http://schemas.openxmlformats.org/drawingml/2006/main">
            <a:off x="9124950" y="4267200"/>
            <a:ext cx="2133600" cy="876300"/>
          </a:xfrm>
          <a:prstGeom xmlns:a="http://schemas.openxmlformats.org/drawingml/2006/main" prst="roundRect">
            <a:avLst>
              <a:gd name="adj" fmla="val 13043"/>
            </a:avLst>
          </a:prstGeom>
          <a:solidFill xmlns:a="http://schemas.openxmlformats.org/drawingml/2006/main">
            <a:srgbClr val="171717"/>
          </a:solidFill>
          <a:ln xmlns:a="http://schemas.openxmlformats.org/drawingml/2006/main" w="9525">
            <a:solidFill>
              <a:srgbClr val="343840"/>
            </a:solidFill>
            <a:prstDash val="solid"/>
          </a:ln>
        </p:spPr>
      </p:sp>
      <p:sp>
        <p:nvSpPr>
          <p:cNvPr id="36" name="">
            <a:extLst xmlns:a="http://schemas.openxmlformats.org/drawingml/2006/main">
              <a:ext uri="{FF2B5EF4-FFF2-40B4-BE49-F238E27FC236}">
                <a16:creationId xmlns:a16="http://schemas.microsoft.com/office/drawing/2014/main" id="{5844346E-7A0D-428D-BC21-D0EC8A1E4448}"/>
              </a:ext>
            </a:extLst>
          </p:cNvPr>
          <p:cNvSpPr>
            <a:spLocks xmlns:a="http://schemas.openxmlformats.org/drawingml/2006/main" noGrp="1"/>
          </p:cNvSpPr>
          <p:nvPr/>
        </p:nvSpPr>
        <p:spPr>
          <a:xfrm xmlns:a="http://schemas.openxmlformats.org/drawingml/2006/main">
            <a:off x="9124950" y="4267200"/>
            <a:ext cx="47625" cy="876300"/>
          </a:xfrm>
          <a:prstGeom xmlns:a="http://schemas.openxmlformats.org/drawingml/2006/main" prst="roundRect">
            <a:avLst>
              <a:gd name="adj" fmla="val 50000"/>
            </a:avLst>
          </a:prstGeom>
          <a:solidFill xmlns:a="http://schemas.openxmlformats.org/drawingml/2006/main">
            <a:srgbClr val="FFD166"/>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BA91EFD-63C8-4F0C-9B79-F4ADE7C93CEA}"/>
              </a:ext>
            </a:extLst>
          </p:cNvPr>
          <p:cNvSpPr>
            <a:spLocks xmlns:a="http://schemas.openxmlformats.org/drawingml/2006/main" noGrp="1"/>
          </p:cNvSpPr>
          <p:nvPr/>
        </p:nvSpPr>
        <p:spPr>
          <a:xfrm xmlns:a="http://schemas.openxmlformats.org/drawingml/2006/main">
            <a:off x="9296400" y="4391025"/>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p xmlns:a="http://schemas.openxmlformats.org/drawingml/2006/main">
            <a:pPr algn="l">
              <a:defRPr sz="2400" b="1">
                <a:solidFill>
                  <a:srgbClr val="FFD166"/>
                </a:solidFill>
                <a:latin typeface="Helvetica Neue"/>
                <a:ea typeface="Helvetica Neue"/>
                <a:cs typeface="Helvetica Neue"/>
              </a:defRPr>
            </a:pPr>
            <a:r>
              <a:rPr sz="2400" b="1">
                <a:solidFill>
                  <a:srgbClr val="FFD166"/>
                </a:solidFill>
                <a:latin typeface="Helvetica Neue"/>
                <a:ea typeface="Helvetica Neue"/>
                <a:cs typeface="Helvetica Neue"/>
              </a:rPr>
              <a:t>58,400</a:t>
            </a:r>
          </a:p>
        </p:txBody>
      </p:sp>
      <p:sp>
        <p:nvSpPr>
          <p:cNvPr id="38" name="">
            <a:extLst xmlns:a="http://schemas.openxmlformats.org/drawingml/2006/main">
              <a:ext uri="{FF2B5EF4-FFF2-40B4-BE49-F238E27FC236}">
                <a16:creationId xmlns:a16="http://schemas.microsoft.com/office/drawing/2014/main" id="{860A42FF-2A51-4BAC-B2E1-043EF17A7139}"/>
              </a:ext>
            </a:extLst>
          </p:cNvPr>
          <p:cNvSpPr>
            <a:spLocks xmlns:a="http://schemas.openxmlformats.org/drawingml/2006/main" noGrp="1"/>
          </p:cNvSpPr>
          <p:nvPr/>
        </p:nvSpPr>
        <p:spPr>
          <a:xfrm xmlns:a="http://schemas.openxmlformats.org/drawingml/2006/main">
            <a:off x="9296400" y="4829175"/>
            <a:ext cx="1866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held-out test hours</a:t>
            </a:r>
          </a:p>
        </p:txBody>
      </p:sp>
      <p:sp>
        <p:nvSpPr>
          <p:cNvPr id="39" name="">
            <a:extLst xmlns:a="http://schemas.openxmlformats.org/drawingml/2006/main">
              <a:ext uri="{FF2B5EF4-FFF2-40B4-BE49-F238E27FC236}">
                <a16:creationId xmlns:a16="http://schemas.microsoft.com/office/drawing/2014/main" id="{497A8D8D-1EB5-44F7-83D9-C6AA12BD424E}"/>
              </a:ext>
            </a:extLst>
          </p:cNvPr>
          <p:cNvSpPr>
            <a:spLocks xmlns:a="http://schemas.openxmlformats.org/drawingml/2006/main" noGrp="1"/>
          </p:cNvSpPr>
          <p:nvPr/>
        </p:nvSpPr>
        <p:spPr>
          <a:xfrm xmlns:a="http://schemas.openxmlformats.org/drawingml/2006/main">
            <a:off x="6819900" y="5495925"/>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1">
                <a:solidFill>
                  <a:srgbClr val="FF9F1C"/>
                </a:solidFill>
                <a:latin typeface="Helvetica Neue"/>
                <a:ea typeface="Helvetica Neue"/>
                <a:cs typeface="Helvetica Neue"/>
              </a:defRPr>
            </a:pPr>
            <a:r>
              <a:rPr sz="975" b="1">
                <a:solidFill>
                  <a:srgbClr val="FF9F1C"/>
                </a:solidFill>
                <a:latin typeface="Helvetica Neue"/>
                <a:ea typeface="Helvetica Neue"/>
                <a:cs typeface="Helvetica Neue"/>
              </a:rPr>
              <a:t>STACK</a:t>
            </a:r>
          </a:p>
        </p:txBody>
      </p:sp>
      <p:sp>
        <p:nvSpPr>
          <p:cNvPr id="40" name="">
            <a:extLst xmlns:a="http://schemas.openxmlformats.org/drawingml/2006/main">
              <a:ext uri="{FF2B5EF4-FFF2-40B4-BE49-F238E27FC236}">
                <a16:creationId xmlns:a16="http://schemas.microsoft.com/office/drawing/2014/main" id="{B9AAB093-BCEB-4C9B-AB5D-992DF2114C10}"/>
              </a:ext>
            </a:extLst>
          </p:cNvPr>
          <p:cNvSpPr>
            <a:spLocks xmlns:a="http://schemas.openxmlformats.org/drawingml/2006/main" noGrp="1"/>
          </p:cNvSpPr>
          <p:nvPr/>
        </p:nvSpPr>
        <p:spPr>
          <a:xfrm xmlns:a="http://schemas.openxmlformats.org/drawingml/2006/main">
            <a:off x="7524750" y="5457825"/>
            <a:ext cx="3733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8FAFC"/>
                </a:solidFill>
                <a:latin typeface="Helvetica Neue"/>
                <a:ea typeface="Helvetica Neue"/>
                <a:cs typeface="Helvetica Neue"/>
              </a:defRPr>
            </a:pPr>
            <a:r>
              <a:rPr sz="1200" b="1">
                <a:solidFill>
                  <a:srgbClr val="F8FAFC"/>
                </a:solidFill>
                <a:latin typeface="Helvetica Neue"/>
                <a:ea typeface="Helvetica Neue"/>
                <a:cs typeface="Helvetica Neue"/>
              </a:rPr>
              <a:t>React 19  ·  TypeScript  ·  Cloudflare D1  ·  Vercel  ·  OpenStreetMap</a:t>
            </a:r>
          </a:p>
        </p:txBody>
      </p:sp>
      <p:sp>
        <p:nvSpPr>
          <p:cNvPr id="41" name="">
            <a:extLst xmlns:a="http://schemas.openxmlformats.org/drawingml/2006/main">
              <a:ext uri="{FF2B5EF4-FFF2-40B4-BE49-F238E27FC236}">
                <a16:creationId xmlns:a16="http://schemas.microsoft.com/office/drawing/2014/main" id="{5CE8CF12-E014-4FE0-8D41-D4EBD52D00AC}"/>
              </a:ext>
            </a:extLst>
          </p:cNvPr>
          <p:cNvSpPr>
            <a:spLocks xmlns:a="http://schemas.openxmlformats.org/drawingml/2006/main" noGrp="1"/>
          </p:cNvSpPr>
          <p:nvPr/>
        </p:nvSpPr>
        <p:spPr>
          <a:xfrm xmlns:a="http://schemas.openxmlformats.org/drawingml/2006/main">
            <a:off x="6819900" y="6057900"/>
            <a:ext cx="4438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286"/>
          </a:bodyPr>
          <a:lstStyle xmlns:a="http://schemas.openxmlformats.org/drawingml/2006/main"/>
          <a:p xmlns:a="http://schemas.openxmlformats.org/drawingml/2006/main">
            <a:pPr algn="l">
              <a:defRPr sz="1050" b="0">
                <a:solidFill>
                  <a:srgbClr val="A6AFBD"/>
                </a:solidFill>
                <a:latin typeface="Helvetica Neue"/>
                <a:ea typeface="Helvetica Neue"/>
                <a:cs typeface="Helvetica Neue"/>
              </a:defRPr>
            </a:pPr>
            <a:r>
              <a:rPr sz="1050" b="0">
                <a:solidFill>
                  <a:srgbClr val="A6AFBD"/>
                </a:solidFill>
                <a:latin typeface="Helvetica Neue"/>
                <a:ea typeface="Helvetica Neue"/>
                <a:cs typeface="Helvetica Neue"/>
              </a:rPr>
              <a:t>Labels are HTSI-derived proxies. Production validation needs verified IMD or health outcomes.</a:t>
            </a:r>
          </a:p>
        </p:txBody>
      </p:sp>
    </p:spTree>
    <p:extLst>
      <p:ext uri="{BB962C8B-B14F-4D97-AF65-F5344CB8AC3E}">
        <p14:creationId xmlns:p14="http://schemas.microsoft.com/office/powerpoint/2010/main" val="3446338916"/>
      </p:ext>
    </p:extLst>
  </p:cSld>
</p:sld>
</file>

<file path=ppt/slides/slide4.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7535434-7E5E-411B-BB14-8969514F96C7}"/>
              </a:ext>
            </a:extLst>
          </p:cNvPr>
          <p:cNvSpPr>
            <a:spLocks xmlns:a="http://schemas.openxmlformats.org/drawingml/2006/main" noGrp="1"/>
          </p:cNvSpPr>
          <p:nvPr/>
        </p:nvSpPr>
        <p:spPr>
          <a:xfrm xmlns:a="http://schemas.openxmlformats.org/drawingml/2006/main">
            <a:off x="514350" y="428625"/>
            <a:ext cx="266700" cy="28575"/>
          </a:xfrm>
          <a:prstGeom xmlns:a="http://schemas.openxmlformats.org/drawingml/2006/main" prst="rect">
            <a:avLst/>
          </a:prstGeom>
          <a:solidFill xmlns:a="http://schemas.openxmlformats.org/drawingml/2006/main">
            <a:srgbClr val="FF9F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035FBCF-8712-43A5-A850-7ABD59590A44}"/>
              </a:ext>
            </a:extLst>
          </p:cNvPr>
          <p:cNvSpPr>
            <a:spLocks xmlns:a="http://schemas.openxmlformats.org/drawingml/2006/main" noGrp="1"/>
          </p:cNvSpPr>
          <p:nvPr/>
        </p:nvSpPr>
        <p:spPr>
          <a:xfrm xmlns:a="http://schemas.openxmlformats.org/drawingml/2006/main">
            <a:off x="895350" y="33337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9F1C"/>
                </a:solidFill>
                <a:latin typeface="Helvetica Neue"/>
                <a:ea typeface="Helvetica Neue"/>
                <a:cs typeface="Helvetica Neue"/>
              </a:defRPr>
            </a:pPr>
            <a:r>
              <a:rPr sz="1425" b="1">
                <a:solidFill>
                  <a:srgbClr val="FF9F1C"/>
                </a:solidFill>
                <a:latin typeface="Helvetica Neue"/>
                <a:ea typeface="Helvetica Neue"/>
                <a:cs typeface="Helvetica Neue"/>
              </a:rPr>
              <a:t>FEASIBILITY AND VIABILITY</a:t>
            </a:r>
          </a:p>
        </p:txBody>
      </p:sp>
      <p:sp>
        <p:nvSpPr>
          <p:cNvPr id="3" name="">
            <a:extLst xmlns:a="http://schemas.openxmlformats.org/drawingml/2006/main">
              <a:ext uri="{FF2B5EF4-FFF2-40B4-BE49-F238E27FC236}">
                <a16:creationId xmlns:a16="http://schemas.microsoft.com/office/drawing/2014/main" id="{DA95AECC-7EB4-478E-92DD-79918C24609E}"/>
              </a:ext>
            </a:extLst>
          </p:cNvPr>
          <p:cNvSpPr>
            <a:spLocks xmlns:a="http://schemas.openxmlformats.org/drawingml/2006/main" noGrp="1"/>
          </p:cNvSpPr>
          <p:nvPr/>
        </p:nvSpPr>
        <p:spPr>
          <a:xfrm xmlns:a="http://schemas.openxmlformats.org/drawingml/2006/main">
            <a:off x="9620250" y="3714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6AFBD"/>
                </a:solidFill>
                <a:latin typeface="Helvetica Neue"/>
                <a:ea typeface="Helvetica Neue"/>
                <a:cs typeface="Helvetica Neue"/>
              </a:defRPr>
            </a:pPr>
            <a:r>
              <a:rPr sz="975" b="1">
                <a:solidFill>
                  <a:srgbClr val="A6AFBD"/>
                </a:solidFill>
                <a:latin typeface="Helvetica Neue"/>
                <a:ea typeface="Helvetica Neue"/>
                <a:cs typeface="Helvetica Neue"/>
              </a:rPr>
              <a:t>TEAM THERMOWATCH</a:t>
            </a:r>
          </a:p>
        </p:txBody>
      </p:sp>
      <p:sp>
        <p:nvSpPr>
          <p:cNvPr id="4" name="">
            <a:extLst xmlns:a="http://schemas.openxmlformats.org/drawingml/2006/main">
              <a:ext uri="{FF2B5EF4-FFF2-40B4-BE49-F238E27FC236}">
                <a16:creationId xmlns:a16="http://schemas.microsoft.com/office/drawing/2014/main" id="{22553C75-0F9B-4D14-A133-DF3C18A4B946}"/>
              </a:ext>
            </a:extLst>
          </p:cNvPr>
          <p:cNvSpPr>
            <a:spLocks xmlns:a="http://schemas.openxmlformats.org/drawingml/2006/main" noGrp="1"/>
          </p:cNvSpPr>
          <p:nvPr/>
        </p:nvSpPr>
        <p:spPr>
          <a:xfrm xmlns:a="http://schemas.openxmlformats.org/drawingml/2006/main">
            <a:off x="11410950" y="64960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A6AFBD"/>
                </a:solidFill>
                <a:latin typeface="Helvetica Neue"/>
                <a:ea typeface="Helvetica Neue"/>
                <a:cs typeface="Helvetica Neue"/>
              </a:defRPr>
            </a:pPr>
            <a:r>
              <a:rPr sz="900" b="0">
                <a:solidFill>
                  <a:srgbClr val="A6AFBD"/>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C59FEBC4-F592-4B01-AD5B-D4E67019D5DE}"/>
              </a:ext>
            </a:extLst>
          </p:cNvPr>
          <p:cNvSpPr>
            <a:spLocks xmlns:a="http://schemas.openxmlformats.org/drawingml/2006/main" noGrp="1"/>
          </p:cNvSpPr>
          <p:nvPr/>
        </p:nvSpPr>
        <p:spPr>
          <a:xfrm xmlns:a="http://schemas.openxmlformats.org/drawingml/2006/main">
            <a:off x="514350" y="895350"/>
            <a:ext cx="847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96"/>
          </a:bodyPr>
          <a:lstStyle xmlns:a="http://schemas.openxmlformats.org/drawingml/2006/main"/>
          <a:p xmlns:a="http://schemas.openxmlformats.org/drawingml/2006/main">
            <a:pPr algn="l">
              <a:defRPr sz="2700" b="1">
                <a:solidFill>
                  <a:srgbClr val="F8FAFC"/>
                </a:solidFill>
                <a:latin typeface="Helvetica Neue"/>
                <a:ea typeface="Helvetica Neue"/>
                <a:cs typeface="Helvetica Neue"/>
              </a:defRPr>
            </a:pPr>
            <a:r>
              <a:rPr sz="2700" b="1">
                <a:solidFill>
                  <a:srgbClr val="F8FAFC"/>
                </a:solidFill>
                <a:latin typeface="Helvetica Neue"/>
                <a:ea typeface="Helvetica Neue"/>
                <a:cs typeface="Helvetica Neue"/>
              </a:rPr>
              <a:t>The core workflow already runs as a public web application.</a:t>
            </a:r>
          </a:p>
        </p:txBody>
      </p:sp>
      <p:sp>
        <p:nvSpPr>
          <p:cNvPr id="6" name="">
            <a:extLst xmlns:a="http://schemas.openxmlformats.org/drawingml/2006/main">
              <a:ext uri="{FF2B5EF4-FFF2-40B4-BE49-F238E27FC236}">
                <a16:creationId xmlns:a16="http://schemas.microsoft.com/office/drawing/2014/main" id="{C59C98EA-910F-4BD9-B235-CCBEB66F1A81}"/>
              </a:ext>
            </a:extLst>
          </p:cNvPr>
          <p:cNvSpPr>
            <a:spLocks xmlns:a="http://schemas.openxmlformats.org/drawingml/2006/main" noGrp="1"/>
          </p:cNvSpPr>
          <p:nvPr/>
        </p:nvSpPr>
        <p:spPr>
          <a:xfrm xmlns:a="http://schemas.openxmlformats.org/drawingml/2006/main">
            <a:off x="495300" y="1685925"/>
            <a:ext cx="5353050" cy="3028950"/>
          </a:xfrm>
          <a:prstGeom xmlns:a="http://schemas.openxmlformats.org/drawingml/2006/main" prst="roundRect">
            <a:avLst>
              <a:gd name="adj" fmla="val 5031"/>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f0eabd6ee89241be"/>
          <a:srcRect xmlns:a="http://schemas.openxmlformats.org/drawingml/2006/main" l="0" t="4982" r="0" b="4982"/>
          <a:stretch xmlns:a="http://schemas.openxmlformats.org/drawingml/2006/main">
            <a:fillRect l="0" t="0" r="0" b="0"/>
          </a:stretch>
        </p:blipFill>
        <p:spPr>
          <a:xfrm xmlns:a="http://schemas.openxmlformats.org/drawingml/2006/main">
            <a:off x="514350" y="1704975"/>
            <a:ext cx="5314950" cy="2990850"/>
          </a:xfrm>
          <a:prstGeom xmlns:a="http://schemas.openxmlformats.org/drawingml/2006/main" prst="roundRect">
            <a:avLst>
              <a:gd name="adj" fmla="val 5096"/>
            </a:avLst>
          </a:prstGeom>
        </p:spPr>
      </p:pic>
      <p:sp>
        <p:nvSpPr>
          <p:cNvPr id="8" name="">
            <a:extLst xmlns:a="http://schemas.openxmlformats.org/drawingml/2006/main">
              <a:ext uri="{FF2B5EF4-FFF2-40B4-BE49-F238E27FC236}">
                <a16:creationId xmlns:a16="http://schemas.microsoft.com/office/drawing/2014/main" id="{8351A67B-94C4-4FEE-B47B-06576AB5F40E}"/>
              </a:ext>
            </a:extLst>
          </p:cNvPr>
          <p:cNvSpPr>
            <a:spLocks xmlns:a="http://schemas.openxmlformats.org/drawingml/2006/main" noGrp="1"/>
          </p:cNvSpPr>
          <p:nvPr/>
        </p:nvSpPr>
        <p:spPr>
          <a:xfrm xmlns:a="http://schemas.openxmlformats.org/drawingml/2006/main">
            <a:off x="514350" y="5038725"/>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20C878"/>
                </a:solidFill>
                <a:latin typeface="Helvetica Neue"/>
                <a:ea typeface="Helvetica Neue"/>
                <a:cs typeface="Helvetica Neue"/>
              </a:defRPr>
            </a:pPr>
            <a:r>
              <a:rPr sz="1050" b="1">
                <a:solidFill>
                  <a:srgbClr val="20C878"/>
                </a:solidFill>
                <a:latin typeface="Helvetica Neue"/>
                <a:ea typeface="Helvetica Neue"/>
                <a:cs typeface="Helvetica Neue"/>
              </a:rPr>
              <a:t>WORKING NOW</a:t>
            </a:r>
          </a:p>
        </p:txBody>
      </p:sp>
      <p:sp>
        <p:nvSpPr>
          <p:cNvPr id="9" name="">
            <a:extLst xmlns:a="http://schemas.openxmlformats.org/drawingml/2006/main">
              <a:ext uri="{FF2B5EF4-FFF2-40B4-BE49-F238E27FC236}">
                <a16:creationId xmlns:a16="http://schemas.microsoft.com/office/drawing/2014/main" id="{38901012-0F43-4705-A8F5-F229B1679FB6}"/>
              </a:ext>
            </a:extLst>
          </p:cNvPr>
          <p:cNvSpPr>
            <a:spLocks xmlns:a="http://schemas.openxmlformats.org/drawingml/2006/main" noGrp="1"/>
          </p:cNvSpPr>
          <p:nvPr/>
        </p:nvSpPr>
        <p:spPr>
          <a:xfrm xmlns:a="http://schemas.openxmlformats.org/drawingml/2006/main">
            <a:off x="514350" y="5334000"/>
            <a:ext cx="4381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40"/>
          </a:bodyPr>
          <a:lstStyle xmlns:a="http://schemas.openxmlformats.org/drawingml/2006/main"/>
          <a:p xmlns:a="http://schemas.openxmlformats.org/drawingml/2006/main">
            <a:pPr algn="l">
              <a:lnSpc>
                <a:spcPct val="118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Live weather and forecast risk</a:t>
            </a:r>
          </a:p>
          <a:p xmlns:a="http://schemas.openxmlformats.org/drawingml/2006/main">
            <a:pPr algn="l">
              <a:lnSpc>
                <a:spcPct val="118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30-city India map</a:t>
            </a:r>
          </a:p>
          <a:p xmlns:a="http://schemas.openxmlformats.org/drawingml/2006/main">
            <a:pPr algn="l">
              <a:lnSpc>
                <a:spcPct val="118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Persistent alert and incident history</a:t>
            </a:r>
          </a:p>
          <a:p xmlns:a="http://schemas.openxmlformats.org/drawingml/2006/main">
            <a:pPr algn="l">
              <a:lnSpc>
                <a:spcPct val="118000"/>
              </a:lnSpc>
              <a:buNone/>
              <a:defRPr sz="1425" b="1">
                <a:solidFill>
                  <a:srgbClr val="F8FAFC"/>
                </a:solidFill>
                <a:latin typeface="Helvetica Neue"/>
                <a:ea typeface="Helvetica Neue"/>
                <a:cs typeface="Helvetica Neue"/>
              </a:defRPr>
            </a:pPr>
            <a:r>
              <a:rPr sz="1425" b="1">
                <a:solidFill>
                  <a:srgbClr val="F8FAFC"/>
                </a:solidFill>
                <a:latin typeface="Helvetica Neue"/>
                <a:ea typeface="Helvetica Neue"/>
                <a:cs typeface="Helvetica Neue"/>
              </a:rPr>
              <a:t>Browser notification and offline shell</a:t>
            </a:r>
          </a:p>
        </p:txBody>
      </p:sp>
      <p:sp>
        <p:nvSpPr>
          <p:cNvPr id="10" name="">
            <a:extLst xmlns:a="http://schemas.openxmlformats.org/drawingml/2006/main">
              <a:ext uri="{FF2B5EF4-FFF2-40B4-BE49-F238E27FC236}">
                <a16:creationId xmlns:a16="http://schemas.microsoft.com/office/drawing/2014/main" id="{E3A8D9F7-5682-4F89-BD5D-C68EF8F42ECB}"/>
              </a:ext>
            </a:extLst>
          </p:cNvPr>
          <p:cNvSpPr>
            <a:spLocks xmlns:a="http://schemas.openxmlformats.org/drawingml/2006/main" noGrp="1"/>
          </p:cNvSpPr>
          <p:nvPr/>
        </p:nvSpPr>
        <p:spPr>
          <a:xfrm xmlns:a="http://schemas.openxmlformats.org/drawingml/2006/main">
            <a:off x="6286500" y="170497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FF9F1C"/>
                </a:solidFill>
                <a:latin typeface="Helvetica Neue"/>
                <a:ea typeface="Helvetica Neue"/>
                <a:cs typeface="Helvetica Neue"/>
              </a:defRPr>
            </a:pPr>
            <a:r>
              <a:rPr sz="1275" b="1">
                <a:solidFill>
                  <a:srgbClr val="FF9F1C"/>
                </a:solidFill>
                <a:latin typeface="Helvetica Neue"/>
                <a:ea typeface="Helvetica Neue"/>
                <a:cs typeface="Helvetica Neue"/>
              </a:rPr>
              <a:t>RISKS AND CONTROLS</a:t>
            </a:r>
          </a:p>
        </p:txBody>
      </p:sp>
      <p:sp>
        <p:nvSpPr>
          <p:cNvPr id="11" name="">
            <a:extLst xmlns:a="http://schemas.openxmlformats.org/drawingml/2006/main">
              <a:ext uri="{FF2B5EF4-FFF2-40B4-BE49-F238E27FC236}">
                <a16:creationId xmlns:a16="http://schemas.microsoft.com/office/drawing/2014/main" id="{4B72F1E4-0D5E-444E-8651-2BA20AC3C8A7}"/>
              </a:ext>
            </a:extLst>
          </p:cNvPr>
          <p:cNvSpPr>
            <a:spLocks xmlns:a="http://schemas.openxmlformats.org/drawingml/2006/main" noGrp="1"/>
          </p:cNvSpPr>
          <p:nvPr/>
        </p:nvSpPr>
        <p:spPr>
          <a:xfrm xmlns:a="http://schemas.openxmlformats.org/drawingml/2006/main">
            <a:off x="6286500" y="2143125"/>
            <a:ext cx="5391150" cy="781050"/>
          </a:xfrm>
          <a:prstGeom xmlns:a="http://schemas.openxmlformats.org/drawingml/2006/main" prst="roundRect">
            <a:avLst>
              <a:gd name="adj" fmla="val 14634"/>
            </a:avLst>
          </a:prstGeom>
          <a:solidFill xmlns:a="http://schemas.openxmlformats.org/drawingml/2006/main">
            <a:srgbClr val="171717"/>
          </a:solidFill>
          <a:ln xmlns:a="http://schemas.openxmlformats.org/drawingml/2006/main" w="9525">
            <a:solidFill>
              <a:srgbClr val="343840"/>
            </a:solidFill>
            <a:prstDash val="solid"/>
          </a:ln>
        </p:spPr>
      </p:sp>
      <p:sp>
        <p:nvSpPr>
          <p:cNvPr id="12" name="">
            <a:extLst xmlns:a="http://schemas.openxmlformats.org/drawingml/2006/main">
              <a:ext uri="{FF2B5EF4-FFF2-40B4-BE49-F238E27FC236}">
                <a16:creationId xmlns:a16="http://schemas.microsoft.com/office/drawing/2014/main" id="{1CBAEE5F-24F3-4BA9-B21B-526A3E3BFE89}"/>
              </a:ext>
            </a:extLst>
          </p:cNvPr>
          <p:cNvSpPr>
            <a:spLocks xmlns:a="http://schemas.openxmlformats.org/drawingml/2006/main" noGrp="1"/>
          </p:cNvSpPr>
          <p:nvPr/>
        </p:nvSpPr>
        <p:spPr>
          <a:xfrm xmlns:a="http://schemas.openxmlformats.org/drawingml/2006/main">
            <a:off x="6286500" y="2143125"/>
            <a:ext cx="47625" cy="781050"/>
          </a:xfrm>
          <a:prstGeom xmlns:a="http://schemas.openxmlformats.org/drawingml/2006/main" prst="roundRect">
            <a:avLst>
              <a:gd name="adj" fmla="val 50000"/>
            </a:avLst>
          </a:prstGeom>
          <a:solidFill xmlns:a="http://schemas.openxmlformats.org/drawingml/2006/main">
            <a:srgbClr val="4CC9F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F75F34-EBCA-4563-BA0B-C35CA9197002}"/>
              </a:ext>
            </a:extLst>
          </p:cNvPr>
          <p:cNvSpPr>
            <a:spLocks xmlns:a="http://schemas.openxmlformats.org/drawingml/2006/main" noGrp="1"/>
          </p:cNvSpPr>
          <p:nvPr/>
        </p:nvSpPr>
        <p:spPr>
          <a:xfrm xmlns:a="http://schemas.openxmlformats.org/drawingml/2006/main">
            <a:off x="6477000" y="2266950"/>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4CC9F0"/>
                </a:solidFill>
                <a:latin typeface="Helvetica Neue"/>
                <a:ea typeface="Helvetica Neue"/>
                <a:cs typeface="Helvetica Neue"/>
              </a:defRPr>
            </a:pPr>
            <a:r>
              <a:rPr sz="1425" b="1">
                <a:solidFill>
                  <a:srgbClr val="4CC9F0"/>
                </a:solidFill>
                <a:latin typeface="Helvetica Neue"/>
                <a:ea typeface="Helvetica Neue"/>
                <a:cs typeface="Helvetica Neue"/>
              </a:rPr>
              <a:t>External APIs may fail</a:t>
            </a:r>
          </a:p>
        </p:txBody>
      </p:sp>
      <p:sp>
        <p:nvSpPr>
          <p:cNvPr id="14" name="">
            <a:extLst xmlns:a="http://schemas.openxmlformats.org/drawingml/2006/main">
              <a:ext uri="{FF2B5EF4-FFF2-40B4-BE49-F238E27FC236}">
                <a16:creationId xmlns:a16="http://schemas.microsoft.com/office/drawing/2014/main" id="{7F6A6E74-BE6B-4470-9795-83E5A1926C49}"/>
              </a:ext>
            </a:extLst>
          </p:cNvPr>
          <p:cNvSpPr>
            <a:spLocks xmlns:a="http://schemas.openxmlformats.org/drawingml/2006/main" noGrp="1"/>
          </p:cNvSpPr>
          <p:nvPr/>
        </p:nvSpPr>
        <p:spPr>
          <a:xfrm xmlns:a="http://schemas.openxmlformats.org/drawingml/2006/main">
            <a:off x="8715375" y="2257425"/>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Validated fallback data keeps the demo usable.</a:t>
            </a:r>
          </a:p>
        </p:txBody>
      </p:sp>
      <p:sp>
        <p:nvSpPr>
          <p:cNvPr id="15" name="">
            <a:extLst xmlns:a="http://schemas.openxmlformats.org/drawingml/2006/main">
              <a:ext uri="{FF2B5EF4-FFF2-40B4-BE49-F238E27FC236}">
                <a16:creationId xmlns:a16="http://schemas.microsoft.com/office/drawing/2014/main" id="{D95943A4-D477-41C6-92F3-0B550B34B6CD}"/>
              </a:ext>
            </a:extLst>
          </p:cNvPr>
          <p:cNvSpPr>
            <a:spLocks xmlns:a="http://schemas.openxmlformats.org/drawingml/2006/main" noGrp="1"/>
          </p:cNvSpPr>
          <p:nvPr/>
        </p:nvSpPr>
        <p:spPr>
          <a:xfrm xmlns:a="http://schemas.openxmlformats.org/drawingml/2006/main">
            <a:off x="6286500" y="3143250"/>
            <a:ext cx="5391150" cy="781050"/>
          </a:xfrm>
          <a:prstGeom xmlns:a="http://schemas.openxmlformats.org/drawingml/2006/main" prst="roundRect">
            <a:avLst>
              <a:gd name="adj" fmla="val 14634"/>
            </a:avLst>
          </a:prstGeom>
          <a:solidFill xmlns:a="http://schemas.openxmlformats.org/drawingml/2006/main">
            <a:srgbClr val="171717"/>
          </a:solidFill>
          <a:ln xmlns:a="http://schemas.openxmlformats.org/drawingml/2006/main" w="9525">
            <a:solidFill>
              <a:srgbClr val="343840"/>
            </a:solidFill>
            <a:prstDash val="solid"/>
          </a:ln>
        </p:spPr>
      </p:sp>
      <p:sp>
        <p:nvSpPr>
          <p:cNvPr id="16" name="">
            <a:extLst xmlns:a="http://schemas.openxmlformats.org/drawingml/2006/main">
              <a:ext uri="{FF2B5EF4-FFF2-40B4-BE49-F238E27FC236}">
                <a16:creationId xmlns:a16="http://schemas.microsoft.com/office/drawing/2014/main" id="{17D8D3D8-F649-4C4F-9D20-D969DD956AD0}"/>
              </a:ext>
            </a:extLst>
          </p:cNvPr>
          <p:cNvSpPr>
            <a:spLocks xmlns:a="http://schemas.openxmlformats.org/drawingml/2006/main" noGrp="1"/>
          </p:cNvSpPr>
          <p:nvPr/>
        </p:nvSpPr>
        <p:spPr>
          <a:xfrm xmlns:a="http://schemas.openxmlformats.org/drawingml/2006/main">
            <a:off x="6286500" y="3143250"/>
            <a:ext cx="47625" cy="781050"/>
          </a:xfrm>
          <a:prstGeom xmlns:a="http://schemas.openxmlformats.org/drawingml/2006/main" prst="roundRect">
            <a:avLst>
              <a:gd name="adj" fmla="val 50000"/>
            </a:avLst>
          </a:prstGeom>
          <a:solidFill xmlns:a="http://schemas.openxmlformats.org/drawingml/2006/main">
            <a:srgbClr val="FFD16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965A691-3EFD-4C5D-9EBC-BE49A2CD613C}"/>
              </a:ext>
            </a:extLst>
          </p:cNvPr>
          <p:cNvSpPr>
            <a:spLocks xmlns:a="http://schemas.openxmlformats.org/drawingml/2006/main" noGrp="1"/>
          </p:cNvSpPr>
          <p:nvPr/>
        </p:nvSpPr>
        <p:spPr>
          <a:xfrm xmlns:a="http://schemas.openxmlformats.org/drawingml/2006/main">
            <a:off x="6477000" y="3267075"/>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D166"/>
                </a:solidFill>
                <a:latin typeface="Helvetica Neue"/>
                <a:ea typeface="Helvetica Neue"/>
                <a:cs typeface="Helvetica Neue"/>
              </a:defRPr>
            </a:pPr>
            <a:r>
              <a:rPr sz="1425" b="1">
                <a:solidFill>
                  <a:srgbClr val="FFD166"/>
                </a:solidFill>
                <a:latin typeface="Helvetica Neue"/>
                <a:ea typeface="Helvetica Neue"/>
                <a:cs typeface="Helvetica Neue"/>
              </a:rPr>
              <a:t>Proxy labels limit claims</a:t>
            </a:r>
          </a:p>
        </p:txBody>
      </p:sp>
      <p:sp>
        <p:nvSpPr>
          <p:cNvPr id="18" name="">
            <a:extLst xmlns:a="http://schemas.openxmlformats.org/drawingml/2006/main">
              <a:ext uri="{FF2B5EF4-FFF2-40B4-BE49-F238E27FC236}">
                <a16:creationId xmlns:a16="http://schemas.microsoft.com/office/drawing/2014/main" id="{48E02D9C-AED5-4EFA-A251-6523F616F4FA}"/>
              </a:ext>
            </a:extLst>
          </p:cNvPr>
          <p:cNvSpPr>
            <a:spLocks xmlns:a="http://schemas.openxmlformats.org/drawingml/2006/main" noGrp="1"/>
          </p:cNvSpPr>
          <p:nvPr/>
        </p:nvSpPr>
        <p:spPr>
          <a:xfrm xmlns:a="http://schemas.openxmlformats.org/drawingml/2006/main">
            <a:off x="8715375" y="325755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The interface states the limitation and preserves reproducible evidence.</a:t>
            </a:r>
          </a:p>
        </p:txBody>
      </p:sp>
      <p:sp>
        <p:nvSpPr>
          <p:cNvPr id="19" name="">
            <a:extLst xmlns:a="http://schemas.openxmlformats.org/drawingml/2006/main">
              <a:ext uri="{FF2B5EF4-FFF2-40B4-BE49-F238E27FC236}">
                <a16:creationId xmlns:a16="http://schemas.microsoft.com/office/drawing/2014/main" id="{25B5B870-99C8-47B1-A31F-5A72590B9227}"/>
              </a:ext>
            </a:extLst>
          </p:cNvPr>
          <p:cNvSpPr>
            <a:spLocks xmlns:a="http://schemas.openxmlformats.org/drawingml/2006/main" noGrp="1"/>
          </p:cNvSpPr>
          <p:nvPr/>
        </p:nvSpPr>
        <p:spPr>
          <a:xfrm xmlns:a="http://schemas.openxmlformats.org/drawingml/2006/main">
            <a:off x="6286500" y="4143375"/>
            <a:ext cx="5391150" cy="781050"/>
          </a:xfrm>
          <a:prstGeom xmlns:a="http://schemas.openxmlformats.org/drawingml/2006/main" prst="roundRect">
            <a:avLst>
              <a:gd name="adj" fmla="val 14634"/>
            </a:avLst>
          </a:prstGeom>
          <a:solidFill xmlns:a="http://schemas.openxmlformats.org/drawingml/2006/main">
            <a:srgbClr val="171717"/>
          </a:solidFill>
          <a:ln xmlns:a="http://schemas.openxmlformats.org/drawingml/2006/main" w="9525">
            <a:solidFill>
              <a:srgbClr val="343840"/>
            </a:solidFill>
            <a:prstDash val="solid"/>
          </a:ln>
        </p:spPr>
      </p:sp>
      <p:sp>
        <p:nvSpPr>
          <p:cNvPr id="20" name="">
            <a:extLst xmlns:a="http://schemas.openxmlformats.org/drawingml/2006/main">
              <a:ext uri="{FF2B5EF4-FFF2-40B4-BE49-F238E27FC236}">
                <a16:creationId xmlns:a16="http://schemas.microsoft.com/office/drawing/2014/main" id="{926DBF84-834A-4C16-BF9E-AFE5823EBF6E}"/>
              </a:ext>
            </a:extLst>
          </p:cNvPr>
          <p:cNvSpPr>
            <a:spLocks xmlns:a="http://schemas.openxmlformats.org/drawingml/2006/main" noGrp="1"/>
          </p:cNvSpPr>
          <p:nvPr/>
        </p:nvSpPr>
        <p:spPr>
          <a:xfrm xmlns:a="http://schemas.openxmlformats.org/drawingml/2006/main">
            <a:off x="6286500" y="4143375"/>
            <a:ext cx="47625" cy="781050"/>
          </a:xfrm>
          <a:prstGeom xmlns:a="http://schemas.openxmlformats.org/drawingml/2006/main" prst="roundRect">
            <a:avLst>
              <a:gd name="adj" fmla="val 50000"/>
            </a:avLst>
          </a:prstGeom>
          <a:solidFill xmlns:a="http://schemas.openxmlformats.org/drawingml/2006/main">
            <a:srgbClr val="EF444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A64739A-A975-4843-A5EF-41BFADE3F8EE}"/>
              </a:ext>
            </a:extLst>
          </p:cNvPr>
          <p:cNvSpPr>
            <a:spLocks xmlns:a="http://schemas.openxmlformats.org/drawingml/2006/main" noGrp="1"/>
          </p:cNvSpPr>
          <p:nvPr/>
        </p:nvSpPr>
        <p:spPr>
          <a:xfrm xmlns:a="http://schemas.openxmlformats.org/drawingml/2006/main">
            <a:off x="6477000" y="4267200"/>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845"/>
          </a:bodyPr>
          <a:lstStyle xmlns:a="http://schemas.openxmlformats.org/drawingml/2006/main"/>
          <a:p xmlns:a="http://schemas.openxmlformats.org/drawingml/2006/main">
            <a:pPr algn="l">
              <a:defRPr sz="1425" b="1">
                <a:solidFill>
                  <a:srgbClr val="EF4444"/>
                </a:solidFill>
                <a:latin typeface="Helvetica Neue"/>
                <a:ea typeface="Helvetica Neue"/>
                <a:cs typeface="Helvetica Neue"/>
              </a:defRPr>
            </a:pPr>
            <a:r>
              <a:rPr sz="1425" b="1">
                <a:solidFill>
                  <a:srgbClr val="EF4444"/>
                </a:solidFill>
                <a:latin typeface="Helvetica Neue"/>
                <a:ea typeface="Helvetica Neue"/>
                <a:cs typeface="Helvetica Neue"/>
              </a:rPr>
              <a:t>Public demo could be misused</a:t>
            </a:r>
          </a:p>
        </p:txBody>
      </p:sp>
      <p:sp>
        <p:nvSpPr>
          <p:cNvPr id="22" name="">
            <a:extLst xmlns:a="http://schemas.openxmlformats.org/drawingml/2006/main">
              <a:ext uri="{FF2B5EF4-FFF2-40B4-BE49-F238E27FC236}">
                <a16:creationId xmlns:a16="http://schemas.microsoft.com/office/drawing/2014/main" id="{64BA7731-144B-45C7-B7F7-BFEC2170B34C}"/>
              </a:ext>
            </a:extLst>
          </p:cNvPr>
          <p:cNvSpPr>
            <a:spLocks xmlns:a="http://schemas.openxmlformats.org/drawingml/2006/main" noGrp="1"/>
          </p:cNvSpPr>
          <p:nvPr/>
        </p:nvSpPr>
        <p:spPr>
          <a:xfrm xmlns:a="http://schemas.openxmlformats.org/drawingml/2006/main">
            <a:off x="8715375" y="4257675"/>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Rate limits apply. SMS and WhatsApp never contact real recipients.</a:t>
            </a:r>
          </a:p>
        </p:txBody>
      </p:sp>
      <p:sp>
        <p:nvSpPr>
          <p:cNvPr id="23" name="">
            <a:extLst xmlns:a="http://schemas.openxmlformats.org/drawingml/2006/main">
              <a:ext uri="{FF2B5EF4-FFF2-40B4-BE49-F238E27FC236}">
                <a16:creationId xmlns:a16="http://schemas.microsoft.com/office/drawing/2014/main" id="{5913CFA4-18C1-4075-AE6C-7EAA7C252E34}"/>
              </a:ext>
            </a:extLst>
          </p:cNvPr>
          <p:cNvSpPr>
            <a:spLocks xmlns:a="http://schemas.openxmlformats.org/drawingml/2006/main" noGrp="1"/>
          </p:cNvSpPr>
          <p:nvPr/>
        </p:nvSpPr>
        <p:spPr>
          <a:xfrm xmlns:a="http://schemas.openxmlformats.org/drawingml/2006/main">
            <a:off x="6286500" y="5143500"/>
            <a:ext cx="5391150" cy="781050"/>
          </a:xfrm>
          <a:prstGeom xmlns:a="http://schemas.openxmlformats.org/drawingml/2006/main" prst="roundRect">
            <a:avLst>
              <a:gd name="adj" fmla="val 14634"/>
            </a:avLst>
          </a:prstGeom>
          <a:solidFill xmlns:a="http://schemas.openxmlformats.org/drawingml/2006/main">
            <a:srgbClr val="171717"/>
          </a:solidFill>
          <a:ln xmlns:a="http://schemas.openxmlformats.org/drawingml/2006/main" w="9525">
            <a:solidFill>
              <a:srgbClr val="343840"/>
            </a:solidFill>
            <a:prstDash val="solid"/>
          </a:ln>
        </p:spPr>
      </p:sp>
      <p:sp>
        <p:nvSpPr>
          <p:cNvPr id="24" name="">
            <a:extLst xmlns:a="http://schemas.openxmlformats.org/drawingml/2006/main">
              <a:ext uri="{FF2B5EF4-FFF2-40B4-BE49-F238E27FC236}">
                <a16:creationId xmlns:a16="http://schemas.microsoft.com/office/drawing/2014/main" id="{9FBA283B-CE58-49F2-A51C-4C6EC585E5C3}"/>
              </a:ext>
            </a:extLst>
          </p:cNvPr>
          <p:cNvSpPr>
            <a:spLocks xmlns:a="http://schemas.openxmlformats.org/drawingml/2006/main" noGrp="1"/>
          </p:cNvSpPr>
          <p:nvPr/>
        </p:nvSpPr>
        <p:spPr>
          <a:xfrm xmlns:a="http://schemas.openxmlformats.org/drawingml/2006/main">
            <a:off x="6286500" y="5143500"/>
            <a:ext cx="47625" cy="781050"/>
          </a:xfrm>
          <a:prstGeom xmlns:a="http://schemas.openxmlformats.org/drawingml/2006/main" prst="roundRect">
            <a:avLst>
              <a:gd name="adj" fmla="val 50000"/>
            </a:avLst>
          </a:prstGeom>
          <a:solidFill xmlns:a="http://schemas.openxmlformats.org/drawingml/2006/main">
            <a:srgbClr val="A855F7"/>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5C59558-73F5-4B88-95FB-B9A95C3A5497}"/>
              </a:ext>
            </a:extLst>
          </p:cNvPr>
          <p:cNvSpPr>
            <a:spLocks xmlns:a="http://schemas.openxmlformats.org/drawingml/2006/main" noGrp="1"/>
          </p:cNvSpPr>
          <p:nvPr/>
        </p:nvSpPr>
        <p:spPr>
          <a:xfrm xmlns:a="http://schemas.openxmlformats.org/drawingml/2006/main">
            <a:off x="6477000" y="5267325"/>
            <a:ext cx="21431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018"/>
          </a:bodyPr>
          <a:lstStyle xmlns:a="http://schemas.openxmlformats.org/drawingml/2006/main"/>
          <a:p xmlns:a="http://schemas.openxmlformats.org/drawingml/2006/main">
            <a:pPr algn="l">
              <a:defRPr sz="1425" b="1">
                <a:solidFill>
                  <a:srgbClr val="A855F7"/>
                </a:solidFill>
                <a:latin typeface="Helvetica Neue"/>
                <a:ea typeface="Helvetica Neue"/>
                <a:cs typeface="Helvetica Neue"/>
              </a:defRPr>
            </a:pPr>
            <a:r>
              <a:rPr sz="1425" b="1">
                <a:solidFill>
                  <a:srgbClr val="A855F7"/>
                </a:solidFill>
                <a:latin typeface="Helvetica Neue"/>
                <a:ea typeface="Helvetica Neue"/>
                <a:cs typeface="Helvetica Neue"/>
              </a:rPr>
              <a:t>Field testing is incomplete</a:t>
            </a:r>
          </a:p>
        </p:txBody>
      </p:sp>
      <p:sp>
        <p:nvSpPr>
          <p:cNvPr id="26" name="">
            <a:extLst xmlns:a="http://schemas.openxmlformats.org/drawingml/2006/main">
              <a:ext uri="{FF2B5EF4-FFF2-40B4-BE49-F238E27FC236}">
                <a16:creationId xmlns:a16="http://schemas.microsoft.com/office/drawing/2014/main" id="{4E9AF81A-82BD-4DDC-BC47-C4D1FB20ADED}"/>
              </a:ext>
            </a:extLst>
          </p:cNvPr>
          <p:cNvSpPr>
            <a:spLocks xmlns:a="http://schemas.openxmlformats.org/drawingml/2006/main" noGrp="1"/>
          </p:cNvSpPr>
          <p:nvPr/>
        </p:nvSpPr>
        <p:spPr>
          <a:xfrm xmlns:a="http://schemas.openxmlformats.org/drawingml/2006/main">
            <a:off x="8715375" y="5257800"/>
            <a:ext cx="27241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Browser delivery and audit history demonstrate the workflow safely.</a:t>
            </a:r>
          </a:p>
        </p:txBody>
      </p:sp>
      <p:sp>
        <p:nvSpPr>
          <p:cNvPr id="27" name="">
            <a:extLst xmlns:a="http://schemas.openxmlformats.org/drawingml/2006/main">
              <a:ext uri="{FF2B5EF4-FFF2-40B4-BE49-F238E27FC236}">
                <a16:creationId xmlns:a16="http://schemas.microsoft.com/office/drawing/2014/main" id="{417838EE-C914-4A21-A552-3F3EC453849B}"/>
              </a:ext>
            </a:extLst>
          </p:cNvPr>
          <p:cNvSpPr>
            <a:spLocks xmlns:a="http://schemas.openxmlformats.org/drawingml/2006/main" noGrp="1"/>
          </p:cNvSpPr>
          <p:nvPr/>
        </p:nvSpPr>
        <p:spPr>
          <a:xfrm xmlns:a="http://schemas.openxmlformats.org/drawingml/2006/main">
            <a:off x="6286500" y="6276975"/>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243"/>
          </a:bodyPr>
          <a:lstStyle xmlns:a="http://schemas.openxmlformats.org/drawingml/2006/main"/>
          <a:p xmlns:a="http://schemas.openxmlformats.org/drawingml/2006/main">
            <a:pPr algn="l">
              <a:defRPr sz="1125" b="1">
                <a:solidFill>
                  <a:srgbClr val="20C878"/>
                </a:solidFill>
                <a:latin typeface="Helvetica Neue"/>
                <a:ea typeface="Helvetica Neue"/>
                <a:cs typeface="Helvetica Neue"/>
              </a:defRPr>
            </a:pPr>
            <a:r>
              <a:rPr sz="1125" b="1">
                <a:solidFill>
                  <a:srgbClr val="20C878"/>
                </a:solidFill>
                <a:latin typeface="Helvetica Neue"/>
                <a:ea typeface="Helvetica Neue"/>
                <a:cs typeface="Helvetica Neue"/>
              </a:rPr>
              <a:t>Deployment path: Vercel entry point with the hosted application and Cloudflare data layer.</a:t>
            </a:r>
          </a:p>
        </p:txBody>
      </p:sp>
    </p:spTree>
    <p:extLst>
      <p:ext uri="{BB962C8B-B14F-4D97-AF65-F5344CB8AC3E}">
        <p14:creationId xmlns:p14="http://schemas.microsoft.com/office/powerpoint/2010/main" val="1053439695"/>
      </p:ext>
    </p:extLst>
  </p:cSld>
</p:sld>
</file>

<file path=ppt/slides/slide5.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DE67D3A4-5B45-4CF8-B6FC-684D70807807}"/>
              </a:ext>
            </a:extLst>
          </p:cNvPr>
          <p:cNvSpPr>
            <a:spLocks xmlns:a="http://schemas.openxmlformats.org/drawingml/2006/main" noGrp="1"/>
          </p:cNvSpPr>
          <p:nvPr/>
        </p:nvSpPr>
        <p:spPr>
          <a:xfrm xmlns:a="http://schemas.openxmlformats.org/drawingml/2006/main">
            <a:off x="514350" y="428625"/>
            <a:ext cx="266700" cy="28575"/>
          </a:xfrm>
          <a:prstGeom xmlns:a="http://schemas.openxmlformats.org/drawingml/2006/main" prst="rect">
            <a:avLst/>
          </a:prstGeom>
          <a:solidFill xmlns:a="http://schemas.openxmlformats.org/drawingml/2006/main">
            <a:srgbClr val="FF9F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4D385A8-E48E-41D8-A1F2-500EA5D4BB1A}"/>
              </a:ext>
            </a:extLst>
          </p:cNvPr>
          <p:cNvSpPr>
            <a:spLocks xmlns:a="http://schemas.openxmlformats.org/drawingml/2006/main" noGrp="1"/>
          </p:cNvSpPr>
          <p:nvPr/>
        </p:nvSpPr>
        <p:spPr>
          <a:xfrm xmlns:a="http://schemas.openxmlformats.org/drawingml/2006/main">
            <a:off x="895350" y="33337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9F1C"/>
                </a:solidFill>
                <a:latin typeface="Helvetica Neue"/>
                <a:ea typeface="Helvetica Neue"/>
                <a:cs typeface="Helvetica Neue"/>
              </a:defRPr>
            </a:pPr>
            <a:r>
              <a:rPr sz="1425" b="1">
                <a:solidFill>
                  <a:srgbClr val="FF9F1C"/>
                </a:solidFill>
                <a:latin typeface="Helvetica Neue"/>
                <a:ea typeface="Helvetica Neue"/>
                <a:cs typeface="Helvetica Neue"/>
              </a:rPr>
              <a:t>IMPACT AND BENEFITS</a:t>
            </a:r>
          </a:p>
        </p:txBody>
      </p:sp>
      <p:sp>
        <p:nvSpPr>
          <p:cNvPr id="3" name="">
            <a:extLst xmlns:a="http://schemas.openxmlformats.org/drawingml/2006/main">
              <a:ext uri="{FF2B5EF4-FFF2-40B4-BE49-F238E27FC236}">
                <a16:creationId xmlns:a16="http://schemas.microsoft.com/office/drawing/2014/main" id="{3B354FD1-B06E-408E-8A51-EA2DDE121648}"/>
              </a:ext>
            </a:extLst>
          </p:cNvPr>
          <p:cNvSpPr>
            <a:spLocks xmlns:a="http://schemas.openxmlformats.org/drawingml/2006/main" noGrp="1"/>
          </p:cNvSpPr>
          <p:nvPr/>
        </p:nvSpPr>
        <p:spPr>
          <a:xfrm xmlns:a="http://schemas.openxmlformats.org/drawingml/2006/main">
            <a:off x="9620250" y="3714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6AFBD"/>
                </a:solidFill>
                <a:latin typeface="Helvetica Neue"/>
                <a:ea typeface="Helvetica Neue"/>
                <a:cs typeface="Helvetica Neue"/>
              </a:defRPr>
            </a:pPr>
            <a:r>
              <a:rPr sz="975" b="1">
                <a:solidFill>
                  <a:srgbClr val="A6AFBD"/>
                </a:solidFill>
                <a:latin typeface="Helvetica Neue"/>
                <a:ea typeface="Helvetica Neue"/>
                <a:cs typeface="Helvetica Neue"/>
              </a:rPr>
              <a:t>TEAM THERMOWATCH</a:t>
            </a:r>
          </a:p>
        </p:txBody>
      </p:sp>
      <p:sp>
        <p:nvSpPr>
          <p:cNvPr id="4" name="">
            <a:extLst xmlns:a="http://schemas.openxmlformats.org/drawingml/2006/main">
              <a:ext uri="{FF2B5EF4-FFF2-40B4-BE49-F238E27FC236}">
                <a16:creationId xmlns:a16="http://schemas.microsoft.com/office/drawing/2014/main" id="{CB45B28B-1065-4714-B0EB-C895B1A4955C}"/>
              </a:ext>
            </a:extLst>
          </p:cNvPr>
          <p:cNvSpPr>
            <a:spLocks xmlns:a="http://schemas.openxmlformats.org/drawingml/2006/main" noGrp="1"/>
          </p:cNvSpPr>
          <p:nvPr/>
        </p:nvSpPr>
        <p:spPr>
          <a:xfrm xmlns:a="http://schemas.openxmlformats.org/drawingml/2006/main">
            <a:off x="11410950" y="64960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A6AFBD"/>
                </a:solidFill>
                <a:latin typeface="Helvetica Neue"/>
                <a:ea typeface="Helvetica Neue"/>
                <a:cs typeface="Helvetica Neue"/>
              </a:defRPr>
            </a:pPr>
            <a:r>
              <a:rPr sz="900" b="0">
                <a:solidFill>
                  <a:srgbClr val="A6AFBD"/>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0729F24D-12B9-4BCD-A7F6-50DC1AA0F561}"/>
              </a:ext>
            </a:extLst>
          </p:cNvPr>
          <p:cNvSpPr>
            <a:spLocks xmlns:a="http://schemas.openxmlformats.org/drawingml/2006/main" noGrp="1"/>
          </p:cNvSpPr>
          <p:nvPr/>
        </p:nvSpPr>
        <p:spPr>
          <a:xfrm xmlns:a="http://schemas.openxmlformats.org/drawingml/2006/main">
            <a:off x="514350" y="895350"/>
            <a:ext cx="7810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372"/>
          </a:bodyPr>
          <a:lstStyle xmlns:a="http://schemas.openxmlformats.org/drawingml/2006/main"/>
          <a:p xmlns:a="http://schemas.openxmlformats.org/drawingml/2006/main">
            <a:pPr algn="l">
              <a:defRPr sz="2850" b="1">
                <a:solidFill>
                  <a:srgbClr val="F8FAFC"/>
                </a:solidFill>
                <a:latin typeface="Helvetica Neue"/>
                <a:ea typeface="Helvetica Neue"/>
                <a:cs typeface="Helvetica Neue"/>
              </a:defRPr>
            </a:pPr>
            <a:r>
              <a:rPr sz="2850" b="1">
                <a:solidFill>
                  <a:srgbClr val="F8FAFC"/>
                </a:solidFill>
                <a:latin typeface="Helvetica Neue"/>
                <a:ea typeface="Helvetica Neue"/>
                <a:cs typeface="Helvetica Neue"/>
              </a:rPr>
              <a:t>Earlier, clearer decisions for heatwave response</a:t>
            </a:r>
          </a:p>
        </p:txBody>
      </p:sp>
      <p:sp>
        <p:nvSpPr>
          <p:cNvPr id="6" name="">
            <a:extLst xmlns:a="http://schemas.openxmlformats.org/drawingml/2006/main">
              <a:ext uri="{FF2B5EF4-FFF2-40B4-BE49-F238E27FC236}">
                <a16:creationId xmlns:a16="http://schemas.microsoft.com/office/drawing/2014/main" id="{6DFD9FE1-6257-4E05-A676-FECFD306B431}"/>
              </a:ext>
            </a:extLst>
          </p:cNvPr>
          <p:cNvSpPr>
            <a:spLocks xmlns:a="http://schemas.openxmlformats.org/drawingml/2006/main" noGrp="1"/>
          </p:cNvSpPr>
          <p:nvPr/>
        </p:nvSpPr>
        <p:spPr>
          <a:xfrm xmlns:a="http://schemas.openxmlformats.org/drawingml/2006/main">
            <a:off x="495300" y="1685925"/>
            <a:ext cx="6610350" cy="4038600"/>
          </a:xfrm>
          <a:prstGeom xmlns:a="http://schemas.openxmlformats.org/drawingml/2006/main" prst="roundRect">
            <a:avLst>
              <a:gd name="adj" fmla="val 3774"/>
            </a:avLst>
          </a:prstGeom>
          <a:solidFill xmlns:a="http://schemas.openxmlformats.org/drawingml/2006/main">
            <a:srgbClr val="171717"/>
          </a:solidFill>
          <a:ln xmlns:a="http://schemas.openxmlformats.org/drawingml/2006/main" w="9525">
            <a:solidFill>
              <a:srgbClr val="343840"/>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781bdbf6efa400d"/>
          <a:srcRect xmlns:a="http://schemas.openxmlformats.org/drawingml/2006/main" l="0" t="1304" r="0" b="1304"/>
          <a:stretch xmlns:a="http://schemas.openxmlformats.org/drawingml/2006/main">
            <a:fillRect l="0" t="0" r="0" b="0"/>
          </a:stretch>
        </p:blipFill>
        <p:spPr>
          <a:xfrm xmlns:a="http://schemas.openxmlformats.org/drawingml/2006/main">
            <a:off x="514350" y="1704975"/>
            <a:ext cx="6572250" cy="4000500"/>
          </a:xfrm>
          <a:prstGeom xmlns:a="http://schemas.openxmlformats.org/drawingml/2006/main" prst="roundRect">
            <a:avLst>
              <a:gd name="adj" fmla="val 3810"/>
            </a:avLst>
          </a:prstGeom>
        </p:spPr>
      </p:pic>
      <p:sp>
        <p:nvSpPr>
          <p:cNvPr id="8" name="">
            <a:extLst xmlns:a="http://schemas.openxmlformats.org/drawingml/2006/main">
              <a:ext uri="{FF2B5EF4-FFF2-40B4-BE49-F238E27FC236}">
                <a16:creationId xmlns:a16="http://schemas.microsoft.com/office/drawing/2014/main" id="{BBA6F9A9-3AF7-4903-83EA-659B2B8A7FAC}"/>
              </a:ext>
            </a:extLst>
          </p:cNvPr>
          <p:cNvSpPr>
            <a:spLocks xmlns:a="http://schemas.openxmlformats.org/drawingml/2006/main" noGrp="1"/>
          </p:cNvSpPr>
          <p:nvPr/>
        </p:nvSpPr>
        <p:spPr>
          <a:xfrm xmlns:a="http://schemas.openxmlformats.org/drawingml/2006/main">
            <a:off x="7524750" y="1724025"/>
            <a:ext cx="1905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9F1C"/>
                </a:solidFill>
                <a:latin typeface="Helvetica Neue"/>
                <a:ea typeface="Helvetica Neue"/>
                <a:cs typeface="Helvetica Neue"/>
              </a:defRPr>
            </a:pPr>
            <a:r>
              <a:rPr sz="1050" b="1">
                <a:solidFill>
                  <a:srgbClr val="FF9F1C"/>
                </a:solidFill>
                <a:latin typeface="Helvetica Neue"/>
                <a:ea typeface="Helvetica Neue"/>
                <a:cs typeface="Helvetica Neue"/>
              </a:rPr>
              <a:t>TARGET USERS</a:t>
            </a:r>
          </a:p>
        </p:txBody>
      </p:sp>
      <p:sp>
        <p:nvSpPr>
          <p:cNvPr id="9" name="">
            <a:extLst xmlns:a="http://schemas.openxmlformats.org/drawingml/2006/main">
              <a:ext uri="{FF2B5EF4-FFF2-40B4-BE49-F238E27FC236}">
                <a16:creationId xmlns:a16="http://schemas.microsoft.com/office/drawing/2014/main" id="{0BDAA36B-C7F9-444A-AAB5-5656CA590936}"/>
              </a:ext>
            </a:extLst>
          </p:cNvPr>
          <p:cNvSpPr>
            <a:spLocks xmlns:a="http://schemas.openxmlformats.org/drawingml/2006/main" noGrp="1"/>
          </p:cNvSpPr>
          <p:nvPr/>
        </p:nvSpPr>
        <p:spPr>
          <a:xfrm xmlns:a="http://schemas.openxmlformats.org/drawingml/2006/main">
            <a:off x="7524750" y="2095500"/>
            <a:ext cx="4000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District authorities</a:t>
            </a:r>
          </a:p>
          <a:p xmlns:a="http://schemas.openxmlformats.org/drawingml/2006/main">
            <a:pPr algn="l">
              <a:lnSpc>
                <a:spcPct val="116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Health and emergency teams</a:t>
            </a:r>
          </a:p>
          <a:p xmlns:a="http://schemas.openxmlformats.org/drawingml/2006/main">
            <a:pPr algn="l">
              <a:lnSpc>
                <a:spcPct val="116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Field workers and community groups</a:t>
            </a:r>
          </a:p>
          <a:p xmlns:a="http://schemas.openxmlformats.org/drawingml/2006/main">
            <a:pPr algn="l">
              <a:lnSpc>
                <a:spcPct val="116000"/>
              </a:lnSpc>
              <a:buNone/>
              <a:defRPr sz="1650" b="1">
                <a:solidFill>
                  <a:srgbClr val="F8FAFC"/>
                </a:solidFill>
                <a:latin typeface="Helvetica Neue"/>
                <a:ea typeface="Helvetica Neue"/>
                <a:cs typeface="Helvetica Neue"/>
              </a:defRPr>
            </a:pPr>
            <a:r>
              <a:rPr sz="1650" b="1">
                <a:solidFill>
                  <a:srgbClr val="F8FAFC"/>
                </a:solidFill>
                <a:latin typeface="Helvetica Neue"/>
                <a:ea typeface="Helvetica Neue"/>
                <a:cs typeface="Helvetica Neue"/>
              </a:rPr>
              <a:t>Residents needing local guidance</a:t>
            </a:r>
          </a:p>
        </p:txBody>
      </p:sp>
      <p:sp>
        <p:nvSpPr>
          <p:cNvPr id="10" name="">
            <a:extLst xmlns:a="http://schemas.openxmlformats.org/drawingml/2006/main">
              <a:ext uri="{FF2B5EF4-FFF2-40B4-BE49-F238E27FC236}">
                <a16:creationId xmlns:a16="http://schemas.microsoft.com/office/drawing/2014/main" id="{CCF1A1EF-7CF8-4919-8E42-871D9F5CB878}"/>
              </a:ext>
            </a:extLst>
          </p:cNvPr>
          <p:cNvSpPr>
            <a:spLocks xmlns:a="http://schemas.openxmlformats.org/drawingml/2006/main" noGrp="1"/>
          </p:cNvSpPr>
          <p:nvPr/>
        </p:nvSpPr>
        <p:spPr>
          <a:xfrm xmlns:a="http://schemas.openxmlformats.org/drawingml/2006/main">
            <a:off x="7524750" y="3724275"/>
            <a:ext cx="285750" cy="285750"/>
          </a:xfrm>
          <a:prstGeom xmlns:a="http://schemas.openxmlformats.org/drawingml/2006/main" prst="ellipse">
            <a:avLst/>
          </a:prstGeom>
          <a:solidFill xmlns:a="http://schemas.openxmlformats.org/drawingml/2006/main">
            <a:srgbClr val="20C87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5508E93-2F23-434E-973B-8A074C9D05B7}"/>
              </a:ext>
            </a:extLst>
          </p:cNvPr>
          <p:cNvSpPr>
            <a:spLocks xmlns:a="http://schemas.openxmlformats.org/drawingml/2006/main" noGrp="1"/>
          </p:cNvSpPr>
          <p:nvPr/>
        </p:nvSpPr>
        <p:spPr>
          <a:xfrm xmlns:a="http://schemas.openxmlformats.org/drawingml/2006/main">
            <a:off x="7524750" y="378142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AA8A3D86-E281-4DD0-9115-2F3336F53C21}"/>
              </a:ext>
            </a:extLst>
          </p:cNvPr>
          <p:cNvSpPr>
            <a:spLocks xmlns:a="http://schemas.openxmlformats.org/drawingml/2006/main" noGrp="1"/>
          </p:cNvSpPr>
          <p:nvPr/>
        </p:nvSpPr>
        <p:spPr>
          <a:xfrm xmlns:a="http://schemas.openxmlformats.org/drawingml/2006/main">
            <a:off x="7943850" y="3705225"/>
            <a:ext cx="358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Social benefit</a:t>
            </a:r>
          </a:p>
        </p:txBody>
      </p:sp>
      <p:sp>
        <p:nvSpPr>
          <p:cNvPr id="13" name="">
            <a:extLst xmlns:a="http://schemas.openxmlformats.org/drawingml/2006/main">
              <a:ext uri="{FF2B5EF4-FFF2-40B4-BE49-F238E27FC236}">
                <a16:creationId xmlns:a16="http://schemas.microsoft.com/office/drawing/2014/main" id="{2A530022-3D47-4721-8994-BF89E21B4E49}"/>
              </a:ext>
            </a:extLst>
          </p:cNvPr>
          <p:cNvSpPr>
            <a:spLocks xmlns:a="http://schemas.openxmlformats.org/drawingml/2006/main" noGrp="1"/>
          </p:cNvSpPr>
          <p:nvPr/>
        </p:nvSpPr>
        <p:spPr>
          <a:xfrm xmlns:a="http://schemas.openxmlformats.org/drawingml/2006/main">
            <a:off x="7943850" y="3981450"/>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Prioritizes vulnerable people and gives simple regional guidance.</a:t>
            </a:r>
          </a:p>
        </p:txBody>
      </p:sp>
      <p:sp>
        <p:nvSpPr>
          <p:cNvPr id="14" name="">
            <a:extLst xmlns:a="http://schemas.openxmlformats.org/drawingml/2006/main">
              <a:ext uri="{FF2B5EF4-FFF2-40B4-BE49-F238E27FC236}">
                <a16:creationId xmlns:a16="http://schemas.microsoft.com/office/drawing/2014/main" id="{4F906E13-03B3-4594-8D0D-D964B7314391}"/>
              </a:ext>
            </a:extLst>
          </p:cNvPr>
          <p:cNvSpPr>
            <a:spLocks xmlns:a="http://schemas.openxmlformats.org/drawingml/2006/main" noGrp="1"/>
          </p:cNvSpPr>
          <p:nvPr/>
        </p:nvSpPr>
        <p:spPr>
          <a:xfrm xmlns:a="http://schemas.openxmlformats.org/drawingml/2006/main">
            <a:off x="7524750" y="4667250"/>
            <a:ext cx="285750" cy="285750"/>
          </a:xfrm>
          <a:prstGeom xmlns:a="http://schemas.openxmlformats.org/drawingml/2006/main" prst="ellipse">
            <a:avLst/>
          </a:prstGeom>
          <a:solidFill xmlns:a="http://schemas.openxmlformats.org/drawingml/2006/main">
            <a:srgbClr val="4CC9F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1EA356E-EECE-4345-9E18-AB71FB919A5D}"/>
              </a:ext>
            </a:extLst>
          </p:cNvPr>
          <p:cNvSpPr>
            <a:spLocks xmlns:a="http://schemas.openxmlformats.org/drawingml/2006/main" noGrp="1"/>
          </p:cNvSpPr>
          <p:nvPr/>
        </p:nvSpPr>
        <p:spPr>
          <a:xfrm xmlns:a="http://schemas.openxmlformats.org/drawingml/2006/main">
            <a:off x="7524750" y="47244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2</a:t>
            </a:r>
          </a:p>
        </p:txBody>
      </p:sp>
      <p:sp>
        <p:nvSpPr>
          <p:cNvPr id="16" name="">
            <a:extLst xmlns:a="http://schemas.openxmlformats.org/drawingml/2006/main">
              <a:ext uri="{FF2B5EF4-FFF2-40B4-BE49-F238E27FC236}">
                <a16:creationId xmlns:a16="http://schemas.microsoft.com/office/drawing/2014/main" id="{31D3D788-7ABE-4C54-B338-6B9BF6947ED7}"/>
              </a:ext>
            </a:extLst>
          </p:cNvPr>
          <p:cNvSpPr>
            <a:spLocks xmlns:a="http://schemas.openxmlformats.org/drawingml/2006/main" noGrp="1"/>
          </p:cNvSpPr>
          <p:nvPr/>
        </p:nvSpPr>
        <p:spPr>
          <a:xfrm xmlns:a="http://schemas.openxmlformats.org/drawingml/2006/main">
            <a:off x="7943850" y="4648200"/>
            <a:ext cx="358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Operational benefit</a:t>
            </a:r>
          </a:p>
        </p:txBody>
      </p:sp>
      <p:sp>
        <p:nvSpPr>
          <p:cNvPr id="17" name="">
            <a:extLst xmlns:a="http://schemas.openxmlformats.org/drawingml/2006/main">
              <a:ext uri="{FF2B5EF4-FFF2-40B4-BE49-F238E27FC236}">
                <a16:creationId xmlns:a16="http://schemas.microsoft.com/office/drawing/2014/main" id="{B890F7F3-B1D8-42C2-A972-D4F20DFC7677}"/>
              </a:ext>
            </a:extLst>
          </p:cNvPr>
          <p:cNvSpPr>
            <a:spLocks xmlns:a="http://schemas.openxmlformats.org/drawingml/2006/main" noGrp="1"/>
          </p:cNvSpPr>
          <p:nvPr/>
        </p:nvSpPr>
        <p:spPr>
          <a:xfrm xmlns:a="http://schemas.openxmlformats.org/drawingml/2006/main">
            <a:off x="7943850" y="4924425"/>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Combines forecast, map, alert and history in one workflow.</a:t>
            </a:r>
          </a:p>
        </p:txBody>
      </p:sp>
      <p:sp>
        <p:nvSpPr>
          <p:cNvPr id="18" name="">
            <a:extLst xmlns:a="http://schemas.openxmlformats.org/drawingml/2006/main">
              <a:ext uri="{FF2B5EF4-FFF2-40B4-BE49-F238E27FC236}">
                <a16:creationId xmlns:a16="http://schemas.microsoft.com/office/drawing/2014/main" id="{D6EEED5E-3B0D-4DEA-86A8-EA4A838403D8}"/>
              </a:ext>
            </a:extLst>
          </p:cNvPr>
          <p:cNvSpPr>
            <a:spLocks xmlns:a="http://schemas.openxmlformats.org/drawingml/2006/main" noGrp="1"/>
          </p:cNvSpPr>
          <p:nvPr/>
        </p:nvSpPr>
        <p:spPr>
          <a:xfrm xmlns:a="http://schemas.openxmlformats.org/drawingml/2006/main">
            <a:off x="7524750" y="5610225"/>
            <a:ext cx="285750" cy="285750"/>
          </a:xfrm>
          <a:prstGeom xmlns:a="http://schemas.openxmlformats.org/drawingml/2006/main" prst="ellipse">
            <a:avLst/>
          </a:prstGeom>
          <a:solidFill xmlns:a="http://schemas.openxmlformats.org/drawingml/2006/main">
            <a:srgbClr val="FFD16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DD25A6E-88E7-4601-9D98-CEF535DD6AEB}"/>
              </a:ext>
            </a:extLst>
          </p:cNvPr>
          <p:cNvSpPr>
            <a:spLocks xmlns:a="http://schemas.openxmlformats.org/drawingml/2006/main" noGrp="1"/>
          </p:cNvSpPr>
          <p:nvPr/>
        </p:nvSpPr>
        <p:spPr>
          <a:xfrm xmlns:a="http://schemas.openxmlformats.org/drawingml/2006/main">
            <a:off x="7524750" y="5667375"/>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50505"/>
                </a:solidFill>
                <a:latin typeface="Helvetica Neue"/>
                <a:ea typeface="Helvetica Neue"/>
                <a:cs typeface="Helvetica Neue"/>
              </a:defRPr>
            </a:pPr>
            <a:r>
              <a:rPr sz="1050" b="1">
                <a:solidFill>
                  <a:srgbClr val="050505"/>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A2C675DA-7566-4CBC-8303-83A5A0571D92}"/>
              </a:ext>
            </a:extLst>
          </p:cNvPr>
          <p:cNvSpPr>
            <a:spLocks xmlns:a="http://schemas.openxmlformats.org/drawingml/2006/main" noGrp="1"/>
          </p:cNvSpPr>
          <p:nvPr/>
        </p:nvSpPr>
        <p:spPr>
          <a:xfrm xmlns:a="http://schemas.openxmlformats.org/drawingml/2006/main">
            <a:off x="7943850" y="5591175"/>
            <a:ext cx="358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Economic benefit</a:t>
            </a:r>
          </a:p>
        </p:txBody>
      </p:sp>
      <p:sp>
        <p:nvSpPr>
          <p:cNvPr id="21" name="">
            <a:extLst xmlns:a="http://schemas.openxmlformats.org/drawingml/2006/main">
              <a:ext uri="{FF2B5EF4-FFF2-40B4-BE49-F238E27FC236}">
                <a16:creationId xmlns:a16="http://schemas.microsoft.com/office/drawing/2014/main" id="{DD598EC5-2684-4DC9-B2F2-3BF4A2DCC515}"/>
              </a:ext>
            </a:extLst>
          </p:cNvPr>
          <p:cNvSpPr>
            <a:spLocks xmlns:a="http://schemas.openxmlformats.org/drawingml/2006/main" noGrp="1"/>
          </p:cNvSpPr>
          <p:nvPr/>
        </p:nvSpPr>
        <p:spPr>
          <a:xfrm xmlns:a="http://schemas.openxmlformats.org/drawingml/2006/main">
            <a:off x="7943850" y="5867400"/>
            <a:ext cx="358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Helps target limited response resources before conditions worsen.</a:t>
            </a:r>
          </a:p>
        </p:txBody>
      </p:sp>
      <p:sp>
        <p:nvSpPr>
          <p:cNvPr id="22" name="">
            <a:extLst xmlns:a="http://schemas.openxmlformats.org/drawingml/2006/main">
              <a:ext uri="{FF2B5EF4-FFF2-40B4-BE49-F238E27FC236}">
                <a16:creationId xmlns:a16="http://schemas.microsoft.com/office/drawing/2014/main" id="{5A1B7F99-648C-4501-ADEC-A2CB5070E26F}"/>
              </a:ext>
            </a:extLst>
          </p:cNvPr>
          <p:cNvSpPr>
            <a:spLocks xmlns:a="http://schemas.openxmlformats.org/drawingml/2006/main" noGrp="1"/>
          </p:cNvSpPr>
          <p:nvPr/>
        </p:nvSpPr>
        <p:spPr>
          <a:xfrm xmlns:a="http://schemas.openxmlformats.org/drawingml/2006/main">
            <a:off x="514350" y="6105525"/>
            <a:ext cx="657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75" b="1">
                <a:solidFill>
                  <a:srgbClr val="A855F7"/>
                </a:solidFill>
                <a:latin typeface="Helvetica Neue"/>
                <a:ea typeface="Helvetica Neue"/>
                <a:cs typeface="Helvetica Neue"/>
              </a:defRPr>
            </a:pPr>
            <a:r>
              <a:rPr sz="1275" b="1">
                <a:solidFill>
                  <a:srgbClr val="A855F7"/>
                </a:solidFill>
                <a:latin typeface="Helvetica Neue"/>
                <a:ea typeface="Helvetica Neue"/>
                <a:cs typeface="Helvetica Neue"/>
              </a:rPr>
              <a:t>Scale path: add official data, more districts and verified notification partners.</a:t>
            </a:r>
          </a:p>
        </p:txBody>
      </p:sp>
    </p:spTree>
    <p:extLst>
      <p:ext uri="{BB962C8B-B14F-4D97-AF65-F5344CB8AC3E}">
        <p14:creationId xmlns:p14="http://schemas.microsoft.com/office/powerpoint/2010/main" val="1053439695"/>
      </p:ext>
    </p:extLst>
  </p:cSld>
</p:sld>
</file>

<file path=ppt/slides/slide6.xml><?xml version="1.0" encoding="utf-8"?>
<p:sld xmlns:p="http://schemas.openxmlformats.org/presentationml/2006/main">
  <p:cSld>
    <p:bg>
      <p:bgPr>
        <a:solidFill xmlns:a="http://schemas.openxmlformats.org/drawingml/2006/main">
          <a:srgbClr val="050505"/>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79672021-B72D-45A4-94EB-929B530E1E32}"/>
              </a:ext>
            </a:extLst>
          </p:cNvPr>
          <p:cNvSpPr>
            <a:spLocks xmlns:a="http://schemas.openxmlformats.org/drawingml/2006/main" noGrp="1"/>
          </p:cNvSpPr>
          <p:nvPr/>
        </p:nvSpPr>
        <p:spPr>
          <a:xfrm xmlns:a="http://schemas.openxmlformats.org/drawingml/2006/main">
            <a:off x="514350" y="428625"/>
            <a:ext cx="266700" cy="28575"/>
          </a:xfrm>
          <a:prstGeom xmlns:a="http://schemas.openxmlformats.org/drawingml/2006/main" prst="rect">
            <a:avLst/>
          </a:prstGeom>
          <a:solidFill xmlns:a="http://schemas.openxmlformats.org/drawingml/2006/main">
            <a:srgbClr val="FF9F1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DDEEF79-EB61-4C14-9645-39B16A76D20E}"/>
              </a:ext>
            </a:extLst>
          </p:cNvPr>
          <p:cNvSpPr>
            <a:spLocks xmlns:a="http://schemas.openxmlformats.org/drawingml/2006/main" noGrp="1"/>
          </p:cNvSpPr>
          <p:nvPr/>
        </p:nvSpPr>
        <p:spPr>
          <a:xfrm xmlns:a="http://schemas.openxmlformats.org/drawingml/2006/main">
            <a:off x="895350" y="333375"/>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425" b="1">
                <a:solidFill>
                  <a:srgbClr val="FF9F1C"/>
                </a:solidFill>
                <a:latin typeface="Helvetica Neue"/>
                <a:ea typeface="Helvetica Neue"/>
                <a:cs typeface="Helvetica Neue"/>
              </a:defRPr>
            </a:pPr>
            <a:r>
              <a:rPr sz="1425" b="1">
                <a:solidFill>
                  <a:srgbClr val="FF9F1C"/>
                </a:solidFill>
                <a:latin typeface="Helvetica Neue"/>
                <a:ea typeface="Helvetica Neue"/>
                <a:cs typeface="Helvetica Neue"/>
              </a:rPr>
              <a:t>RESEARCH AND REFERENCES</a:t>
            </a:r>
          </a:p>
        </p:txBody>
      </p:sp>
      <p:sp>
        <p:nvSpPr>
          <p:cNvPr id="3" name="">
            <a:extLst xmlns:a="http://schemas.openxmlformats.org/drawingml/2006/main">
              <a:ext uri="{FF2B5EF4-FFF2-40B4-BE49-F238E27FC236}">
                <a16:creationId xmlns:a16="http://schemas.microsoft.com/office/drawing/2014/main" id="{0656CF70-38E8-48B6-A73A-CCE3057192DA}"/>
              </a:ext>
            </a:extLst>
          </p:cNvPr>
          <p:cNvSpPr>
            <a:spLocks xmlns:a="http://schemas.openxmlformats.org/drawingml/2006/main" noGrp="1"/>
          </p:cNvSpPr>
          <p:nvPr/>
        </p:nvSpPr>
        <p:spPr>
          <a:xfrm xmlns:a="http://schemas.openxmlformats.org/drawingml/2006/main">
            <a:off x="9620250" y="371475"/>
            <a:ext cx="20574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75" b="1">
                <a:solidFill>
                  <a:srgbClr val="A6AFBD"/>
                </a:solidFill>
                <a:latin typeface="Helvetica Neue"/>
                <a:ea typeface="Helvetica Neue"/>
                <a:cs typeface="Helvetica Neue"/>
              </a:defRPr>
            </a:pPr>
            <a:r>
              <a:rPr sz="975" b="1">
                <a:solidFill>
                  <a:srgbClr val="A6AFBD"/>
                </a:solidFill>
                <a:latin typeface="Helvetica Neue"/>
                <a:ea typeface="Helvetica Neue"/>
                <a:cs typeface="Helvetica Neue"/>
              </a:rPr>
              <a:t>TEAM THERMOWATCH</a:t>
            </a:r>
          </a:p>
        </p:txBody>
      </p:sp>
      <p:sp>
        <p:nvSpPr>
          <p:cNvPr id="4" name="">
            <a:extLst xmlns:a="http://schemas.openxmlformats.org/drawingml/2006/main">
              <a:ext uri="{FF2B5EF4-FFF2-40B4-BE49-F238E27FC236}">
                <a16:creationId xmlns:a16="http://schemas.microsoft.com/office/drawing/2014/main" id="{675FEAC8-F1D9-48ED-9F2C-C24FE50FB12B}"/>
              </a:ext>
            </a:extLst>
          </p:cNvPr>
          <p:cNvSpPr>
            <a:spLocks xmlns:a="http://schemas.openxmlformats.org/drawingml/2006/main" noGrp="1"/>
          </p:cNvSpPr>
          <p:nvPr/>
        </p:nvSpPr>
        <p:spPr>
          <a:xfrm xmlns:a="http://schemas.openxmlformats.org/drawingml/2006/main">
            <a:off x="11410950" y="6496050"/>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900" b="0">
                <a:solidFill>
                  <a:srgbClr val="A6AFBD"/>
                </a:solidFill>
                <a:latin typeface="Helvetica Neue"/>
                <a:ea typeface="Helvetica Neue"/>
                <a:cs typeface="Helvetica Neue"/>
              </a:defRPr>
            </a:pPr>
            <a:r>
              <a:rPr sz="900" b="0">
                <a:solidFill>
                  <a:srgbClr val="A6AFBD"/>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49EAAF7D-CA9C-44D4-BF52-6C614357896B}"/>
              </a:ext>
            </a:extLst>
          </p:cNvPr>
          <p:cNvSpPr>
            <a:spLocks xmlns:a="http://schemas.openxmlformats.org/drawingml/2006/main" noGrp="1"/>
          </p:cNvSpPr>
          <p:nvPr/>
        </p:nvSpPr>
        <p:spPr>
          <a:xfrm xmlns:a="http://schemas.openxmlformats.org/drawingml/2006/main">
            <a:off x="514350" y="895350"/>
            <a:ext cx="619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700" b="1">
                <a:solidFill>
                  <a:srgbClr val="F8FAFC"/>
                </a:solidFill>
                <a:latin typeface="Helvetica Neue"/>
                <a:ea typeface="Helvetica Neue"/>
                <a:cs typeface="Helvetica Neue"/>
              </a:defRPr>
            </a:pPr>
            <a:r>
              <a:rPr sz="2700" b="1">
                <a:solidFill>
                  <a:srgbClr val="F8FAFC"/>
                </a:solidFill>
                <a:latin typeface="Helvetica Neue"/>
                <a:ea typeface="Helvetica Neue"/>
                <a:cs typeface="Helvetica Neue"/>
              </a:rPr>
              <a:t>Evidence used in the prototype</a:t>
            </a:r>
          </a:p>
        </p:txBody>
      </p:sp>
      <p:sp>
        <p:nvSpPr>
          <p:cNvPr id="6" name="">
            <a:extLst xmlns:a="http://schemas.openxmlformats.org/drawingml/2006/main">
              <a:ext uri="{FF2B5EF4-FFF2-40B4-BE49-F238E27FC236}">
                <a16:creationId xmlns:a16="http://schemas.microsoft.com/office/drawing/2014/main" id="{9018C9B4-3DF3-4442-BC83-5F0B1D14E538}"/>
              </a:ext>
            </a:extLst>
          </p:cNvPr>
          <p:cNvSpPr>
            <a:spLocks xmlns:a="http://schemas.openxmlformats.org/drawingml/2006/main" noGrp="1"/>
          </p:cNvSpPr>
          <p:nvPr/>
        </p:nvSpPr>
        <p:spPr>
          <a:xfrm xmlns:a="http://schemas.openxmlformats.org/drawingml/2006/main">
            <a:off x="514350" y="162877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1C"/>
                </a:solidFill>
                <a:latin typeface="Helvetica Neue"/>
                <a:ea typeface="Helvetica Neue"/>
                <a:cs typeface="Helvetica Neue"/>
              </a:defRPr>
            </a:pPr>
            <a:r>
              <a:rPr sz="1350" b="1">
                <a:solidFill>
                  <a:srgbClr val="FF9F1C"/>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FC1D6950-03EF-401B-B90A-2F7B15D64193}"/>
              </a:ext>
            </a:extLst>
          </p:cNvPr>
          <p:cNvSpPr>
            <a:spLocks xmlns:a="http://schemas.openxmlformats.org/drawingml/2006/main" noGrp="1"/>
          </p:cNvSpPr>
          <p:nvPr/>
        </p:nvSpPr>
        <p:spPr>
          <a:xfrm xmlns:a="http://schemas.openxmlformats.org/drawingml/2006/main">
            <a:off x="1028700" y="160972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Open-Meteo Forecast API</a:t>
            </a:r>
          </a:p>
        </p:txBody>
      </p:sp>
      <p:sp>
        <p:nvSpPr>
          <p:cNvPr id="8" name="">
            <a:extLst xmlns:a="http://schemas.openxmlformats.org/drawingml/2006/main">
              <a:ext uri="{FF2B5EF4-FFF2-40B4-BE49-F238E27FC236}">
                <a16:creationId xmlns:a16="http://schemas.microsoft.com/office/drawing/2014/main" id="{6F4B7AC5-E42C-4ABF-A71B-B3F16178CF4E}"/>
              </a:ext>
            </a:extLst>
          </p:cNvPr>
          <p:cNvSpPr>
            <a:spLocks xmlns:a="http://schemas.openxmlformats.org/drawingml/2006/main" noGrp="1"/>
          </p:cNvSpPr>
          <p:nvPr/>
        </p:nvSpPr>
        <p:spPr>
          <a:xfrm xmlns:a="http://schemas.openxmlformats.org/drawingml/2006/main">
            <a:off x="1028700" y="1905000"/>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Live current weather and forecast variables</a:t>
            </a:r>
          </a:p>
        </p:txBody>
      </p:sp>
      <p:sp>
        <p:nvSpPr>
          <p:cNvPr id="9" name="">
            <a:extLst xmlns:a="http://schemas.openxmlformats.org/drawingml/2006/main">
              <a:ext uri="{FF2B5EF4-FFF2-40B4-BE49-F238E27FC236}">
                <a16:creationId xmlns:a16="http://schemas.microsoft.com/office/drawing/2014/main" id="{BB76DBE9-DF87-46A1-92B6-A686C9A188D2}"/>
              </a:ext>
            </a:extLst>
          </p:cNvPr>
          <p:cNvSpPr>
            <a:spLocks xmlns:a="http://schemas.openxmlformats.org/drawingml/2006/main" noGrp="1"/>
          </p:cNvSpPr>
          <p:nvPr/>
        </p:nvSpPr>
        <p:spPr>
          <a:xfrm xmlns:a="http://schemas.openxmlformats.org/drawingml/2006/main">
            <a:off x="1028700" y="2190750"/>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4CC9F0"/>
                </a:solidFill>
                <a:latin typeface="Helvetica Neue"/>
                <a:ea typeface="Helvetica Neue"/>
                <a:cs typeface="Helvetica Neue"/>
              </a:defRPr>
            </a:pPr>
            <a:r>
              <a:rPr sz="975" b="0">
                <a:solidFill>
                  <a:srgbClr val="4CC9F0"/>
                </a:solidFill>
                <a:latin typeface="Helvetica Neue"/>
                <a:ea typeface="Helvetica Neue"/>
                <a:cs typeface="Helvetica Neue"/>
              </a:rPr>
              <a:t>https://open-meteo.com/en/docs</a:t>
            </a:r>
          </a:p>
        </p:txBody>
      </p:sp>
      <p:sp>
        <p:nvSpPr>
          <p:cNvPr id="10" name="">
            <a:extLst xmlns:a="http://schemas.openxmlformats.org/drawingml/2006/main">
              <a:ext uri="{FF2B5EF4-FFF2-40B4-BE49-F238E27FC236}">
                <a16:creationId xmlns:a16="http://schemas.microsoft.com/office/drawing/2014/main" id="{67F7E361-FBD7-48B4-BEBF-B9A034341704}"/>
              </a:ext>
            </a:extLst>
          </p:cNvPr>
          <p:cNvSpPr>
            <a:spLocks xmlns:a="http://schemas.openxmlformats.org/drawingml/2006/main" noGrp="1"/>
          </p:cNvSpPr>
          <p:nvPr/>
        </p:nvSpPr>
        <p:spPr>
          <a:xfrm xmlns:a="http://schemas.openxmlformats.org/drawingml/2006/main">
            <a:off x="514350" y="259080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1C"/>
                </a:solidFill>
                <a:latin typeface="Helvetica Neue"/>
                <a:ea typeface="Helvetica Neue"/>
                <a:cs typeface="Helvetica Neue"/>
              </a:defRPr>
            </a:pPr>
            <a:r>
              <a:rPr sz="1350" b="1">
                <a:solidFill>
                  <a:srgbClr val="FF9F1C"/>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7933C4B4-F773-4B41-9B41-17C457BCA8F4}"/>
              </a:ext>
            </a:extLst>
          </p:cNvPr>
          <p:cNvSpPr>
            <a:spLocks xmlns:a="http://schemas.openxmlformats.org/drawingml/2006/main" noGrp="1"/>
          </p:cNvSpPr>
          <p:nvPr/>
        </p:nvSpPr>
        <p:spPr>
          <a:xfrm xmlns:a="http://schemas.openxmlformats.org/drawingml/2006/main">
            <a:off x="1028700" y="257175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Open-Meteo Historical Weather API</a:t>
            </a:r>
          </a:p>
        </p:txBody>
      </p:sp>
      <p:sp>
        <p:nvSpPr>
          <p:cNvPr id="12" name="">
            <a:extLst xmlns:a="http://schemas.openxmlformats.org/drawingml/2006/main">
              <a:ext uri="{FF2B5EF4-FFF2-40B4-BE49-F238E27FC236}">
                <a16:creationId xmlns:a16="http://schemas.microsoft.com/office/drawing/2014/main" id="{BD547143-6BB3-4015-BBE2-470E744069EE}"/>
              </a:ext>
            </a:extLst>
          </p:cNvPr>
          <p:cNvSpPr>
            <a:spLocks xmlns:a="http://schemas.openxmlformats.org/drawingml/2006/main" noGrp="1"/>
          </p:cNvSpPr>
          <p:nvPr/>
        </p:nvSpPr>
        <p:spPr>
          <a:xfrm xmlns:a="http://schemas.openxmlformats.org/drawingml/2006/main">
            <a:off x="1028700" y="2867025"/>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ERA5-Seamless data used for reproducible training and replay</a:t>
            </a:r>
          </a:p>
        </p:txBody>
      </p:sp>
      <p:sp>
        <p:nvSpPr>
          <p:cNvPr id="13" name="">
            <a:extLst xmlns:a="http://schemas.openxmlformats.org/drawingml/2006/main">
              <a:ext uri="{FF2B5EF4-FFF2-40B4-BE49-F238E27FC236}">
                <a16:creationId xmlns:a16="http://schemas.microsoft.com/office/drawing/2014/main" id="{7746FF6F-F50A-4653-920C-0DB5D2449E60}"/>
              </a:ext>
            </a:extLst>
          </p:cNvPr>
          <p:cNvSpPr>
            <a:spLocks xmlns:a="http://schemas.openxmlformats.org/drawingml/2006/main" noGrp="1"/>
          </p:cNvSpPr>
          <p:nvPr/>
        </p:nvSpPr>
        <p:spPr>
          <a:xfrm xmlns:a="http://schemas.openxmlformats.org/drawingml/2006/main">
            <a:off x="1028700" y="315277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4CC9F0"/>
                </a:solidFill>
                <a:latin typeface="Helvetica Neue"/>
                <a:ea typeface="Helvetica Neue"/>
                <a:cs typeface="Helvetica Neue"/>
              </a:defRPr>
            </a:pPr>
            <a:r>
              <a:rPr sz="975" b="0">
                <a:solidFill>
                  <a:srgbClr val="4CC9F0"/>
                </a:solidFill>
                <a:latin typeface="Helvetica Neue"/>
                <a:ea typeface="Helvetica Neue"/>
                <a:cs typeface="Helvetica Neue"/>
              </a:rPr>
              <a:t>https://open-meteo.com/en/docs/historical-weather-api</a:t>
            </a:r>
          </a:p>
        </p:txBody>
      </p:sp>
      <p:sp>
        <p:nvSpPr>
          <p:cNvPr id="14" name="">
            <a:extLst xmlns:a="http://schemas.openxmlformats.org/drawingml/2006/main">
              <a:ext uri="{FF2B5EF4-FFF2-40B4-BE49-F238E27FC236}">
                <a16:creationId xmlns:a16="http://schemas.microsoft.com/office/drawing/2014/main" id="{8AF9EC84-2CC7-4735-92AA-89A05139AB6C}"/>
              </a:ext>
            </a:extLst>
          </p:cNvPr>
          <p:cNvSpPr>
            <a:spLocks xmlns:a="http://schemas.openxmlformats.org/drawingml/2006/main" noGrp="1"/>
          </p:cNvSpPr>
          <p:nvPr/>
        </p:nvSpPr>
        <p:spPr>
          <a:xfrm xmlns:a="http://schemas.openxmlformats.org/drawingml/2006/main">
            <a:off x="514350" y="3552825"/>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1C"/>
                </a:solidFill>
                <a:latin typeface="Helvetica Neue"/>
                <a:ea typeface="Helvetica Neue"/>
                <a:cs typeface="Helvetica Neue"/>
              </a:defRPr>
            </a:pPr>
            <a:r>
              <a:rPr sz="1350" b="1">
                <a:solidFill>
                  <a:srgbClr val="FF9F1C"/>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9F05FDE8-6ABA-44BA-BB82-5620037AB49F}"/>
              </a:ext>
            </a:extLst>
          </p:cNvPr>
          <p:cNvSpPr>
            <a:spLocks xmlns:a="http://schemas.openxmlformats.org/drawingml/2006/main" noGrp="1"/>
          </p:cNvSpPr>
          <p:nvPr/>
        </p:nvSpPr>
        <p:spPr>
          <a:xfrm xmlns:a="http://schemas.openxmlformats.org/drawingml/2006/main">
            <a:off x="1028700" y="3533775"/>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OpenStreetMap and Overpass API</a:t>
            </a:r>
          </a:p>
        </p:txBody>
      </p:sp>
      <p:sp>
        <p:nvSpPr>
          <p:cNvPr id="16" name="">
            <a:extLst xmlns:a="http://schemas.openxmlformats.org/drawingml/2006/main">
              <a:ext uri="{FF2B5EF4-FFF2-40B4-BE49-F238E27FC236}">
                <a16:creationId xmlns:a16="http://schemas.microsoft.com/office/drawing/2014/main" id="{2C1DAFCF-FEDF-489E-8F80-B5A80F1E27F1}"/>
              </a:ext>
            </a:extLst>
          </p:cNvPr>
          <p:cNvSpPr>
            <a:spLocks xmlns:a="http://schemas.openxmlformats.org/drawingml/2006/main" noGrp="1"/>
          </p:cNvSpPr>
          <p:nvPr/>
        </p:nvSpPr>
        <p:spPr>
          <a:xfrm xmlns:a="http://schemas.openxmlformats.org/drawingml/2006/main">
            <a:off x="1028700" y="3829050"/>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Nearby hospitals, clinics, community centres and water points</a:t>
            </a:r>
          </a:p>
        </p:txBody>
      </p:sp>
      <p:sp>
        <p:nvSpPr>
          <p:cNvPr id="17" name="">
            <a:extLst xmlns:a="http://schemas.openxmlformats.org/drawingml/2006/main">
              <a:ext uri="{FF2B5EF4-FFF2-40B4-BE49-F238E27FC236}">
                <a16:creationId xmlns:a16="http://schemas.microsoft.com/office/drawing/2014/main" id="{ADC9B15D-8E19-42C0-A88E-6A3F71CA99C5}"/>
              </a:ext>
            </a:extLst>
          </p:cNvPr>
          <p:cNvSpPr>
            <a:spLocks xmlns:a="http://schemas.openxmlformats.org/drawingml/2006/main" noGrp="1"/>
          </p:cNvSpPr>
          <p:nvPr/>
        </p:nvSpPr>
        <p:spPr>
          <a:xfrm xmlns:a="http://schemas.openxmlformats.org/drawingml/2006/main">
            <a:off x="1028700" y="4114800"/>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4CC9F0"/>
                </a:solidFill>
                <a:latin typeface="Helvetica Neue"/>
                <a:ea typeface="Helvetica Neue"/>
                <a:cs typeface="Helvetica Neue"/>
              </a:defRPr>
            </a:pPr>
            <a:r>
              <a:rPr sz="975" b="0">
                <a:solidFill>
                  <a:srgbClr val="4CC9F0"/>
                </a:solidFill>
                <a:latin typeface="Helvetica Neue"/>
                <a:ea typeface="Helvetica Neue"/>
                <a:cs typeface="Helvetica Neue"/>
              </a:rPr>
              <a:t>https://www.openstreetmap.org</a:t>
            </a:r>
          </a:p>
        </p:txBody>
      </p:sp>
      <p:sp>
        <p:nvSpPr>
          <p:cNvPr id="18" name="">
            <a:extLst xmlns:a="http://schemas.openxmlformats.org/drawingml/2006/main">
              <a:ext uri="{FF2B5EF4-FFF2-40B4-BE49-F238E27FC236}">
                <a16:creationId xmlns:a16="http://schemas.microsoft.com/office/drawing/2014/main" id="{AF4B1D42-006F-4345-949C-2BF8C8AB7902}"/>
              </a:ext>
            </a:extLst>
          </p:cNvPr>
          <p:cNvSpPr>
            <a:spLocks xmlns:a="http://schemas.openxmlformats.org/drawingml/2006/main" noGrp="1"/>
          </p:cNvSpPr>
          <p:nvPr/>
        </p:nvSpPr>
        <p:spPr>
          <a:xfrm xmlns:a="http://schemas.openxmlformats.org/drawingml/2006/main">
            <a:off x="514350" y="4514850"/>
            <a:ext cx="381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350" b="1">
                <a:solidFill>
                  <a:srgbClr val="FF9F1C"/>
                </a:solidFill>
                <a:latin typeface="Helvetica Neue"/>
                <a:ea typeface="Helvetica Neue"/>
                <a:cs typeface="Helvetica Neue"/>
              </a:defRPr>
            </a:pPr>
            <a:r>
              <a:rPr sz="1350" b="1">
                <a:solidFill>
                  <a:srgbClr val="FF9F1C"/>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C57791F0-6068-48A9-9179-CD68111547C5}"/>
              </a:ext>
            </a:extLst>
          </p:cNvPr>
          <p:cNvSpPr>
            <a:spLocks xmlns:a="http://schemas.openxmlformats.org/drawingml/2006/main" noGrp="1"/>
          </p:cNvSpPr>
          <p:nvPr/>
        </p:nvSpPr>
        <p:spPr>
          <a:xfrm xmlns:a="http://schemas.openxmlformats.org/drawingml/2006/main">
            <a:off x="1028700" y="44958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1">
                <a:solidFill>
                  <a:srgbClr val="F8FAFC"/>
                </a:solidFill>
                <a:latin typeface="Helvetica Neue"/>
                <a:ea typeface="Helvetica Neue"/>
                <a:cs typeface="Helvetica Neue"/>
              </a:defRPr>
            </a:pPr>
            <a:r>
              <a:rPr sz="1575" b="1">
                <a:solidFill>
                  <a:srgbClr val="F8FAFC"/>
                </a:solidFill>
                <a:latin typeface="Helvetica Neue"/>
                <a:ea typeface="Helvetica Neue"/>
                <a:cs typeface="Helvetica Neue"/>
              </a:rPr>
              <a:t>India boundary geometry</a:t>
            </a:r>
          </a:p>
        </p:txBody>
      </p:sp>
      <p:sp>
        <p:nvSpPr>
          <p:cNvPr id="20" name="">
            <a:extLst xmlns:a="http://schemas.openxmlformats.org/drawingml/2006/main">
              <a:ext uri="{FF2B5EF4-FFF2-40B4-BE49-F238E27FC236}">
                <a16:creationId xmlns:a16="http://schemas.microsoft.com/office/drawing/2014/main" id="{1916AB79-3E88-40CF-9CD2-02A21848D856}"/>
              </a:ext>
            </a:extLst>
          </p:cNvPr>
          <p:cNvSpPr>
            <a:spLocks xmlns:a="http://schemas.openxmlformats.org/drawingml/2006/main" noGrp="1"/>
          </p:cNvSpPr>
          <p:nvPr/>
        </p:nvSpPr>
        <p:spPr>
          <a:xfrm xmlns:a="http://schemas.openxmlformats.org/drawingml/2006/main">
            <a:off x="1028700" y="4791075"/>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0">
                <a:solidFill>
                  <a:srgbClr val="A6AFBD"/>
                </a:solidFill>
                <a:latin typeface="Helvetica Neue"/>
                <a:ea typeface="Helvetica Neue"/>
                <a:cs typeface="Helvetica Neue"/>
              </a:defRPr>
            </a:pPr>
            <a:r>
              <a:rPr sz="1200" b="0">
                <a:solidFill>
                  <a:srgbClr val="A6AFBD"/>
                </a:solidFill>
                <a:latin typeface="Helvetica Neue"/>
                <a:ea typeface="Helvetica Neue"/>
                <a:cs typeface="Helvetica Neue"/>
              </a:rPr>
              <a:t>Map geometry distributed under CC BY 4.0</a:t>
            </a:r>
          </a:p>
        </p:txBody>
      </p:sp>
      <p:sp>
        <p:nvSpPr>
          <p:cNvPr id="21" name="">
            <a:extLst xmlns:a="http://schemas.openxmlformats.org/drawingml/2006/main">
              <a:ext uri="{FF2B5EF4-FFF2-40B4-BE49-F238E27FC236}">
                <a16:creationId xmlns:a16="http://schemas.microsoft.com/office/drawing/2014/main" id="{34A759FB-BBF2-42F0-A268-43EEBC67A755}"/>
              </a:ext>
            </a:extLst>
          </p:cNvPr>
          <p:cNvSpPr>
            <a:spLocks xmlns:a="http://schemas.openxmlformats.org/drawingml/2006/main" noGrp="1"/>
          </p:cNvSpPr>
          <p:nvPr/>
        </p:nvSpPr>
        <p:spPr>
          <a:xfrm xmlns:a="http://schemas.openxmlformats.org/drawingml/2006/main">
            <a:off x="1028700" y="507682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975" b="0">
                <a:solidFill>
                  <a:srgbClr val="4CC9F0"/>
                </a:solidFill>
                <a:latin typeface="Helvetica Neue"/>
                <a:ea typeface="Helvetica Neue"/>
                <a:cs typeface="Helvetica Neue"/>
              </a:defRPr>
            </a:pPr>
            <a:r>
              <a:rPr sz="975" b="0">
                <a:solidFill>
                  <a:srgbClr val="4CC9F0"/>
                </a:solidFill>
                <a:latin typeface="Helvetica Neue"/>
                <a:ea typeface="Helvetica Neue"/>
                <a:cs typeface="Helvetica Neue"/>
              </a:rPr>
              <a:t>https://github.com/VictorCazanave/svg-maps</a:t>
            </a:r>
          </a:p>
        </p:txBody>
      </p:sp>
      <p:sp>
        <p:nvSpPr>
          <p:cNvPr id="22" name="">
            <a:extLst xmlns:a="http://schemas.openxmlformats.org/drawingml/2006/main">
              <a:ext uri="{FF2B5EF4-FFF2-40B4-BE49-F238E27FC236}">
                <a16:creationId xmlns:a16="http://schemas.microsoft.com/office/drawing/2014/main" id="{253FCA88-67AC-4CEF-AC08-51A94B6E34B8}"/>
              </a:ext>
            </a:extLst>
          </p:cNvPr>
          <p:cNvSpPr>
            <a:spLocks xmlns:a="http://schemas.openxmlformats.org/drawingml/2006/main" noGrp="1"/>
          </p:cNvSpPr>
          <p:nvPr/>
        </p:nvSpPr>
        <p:spPr>
          <a:xfrm xmlns:a="http://schemas.openxmlformats.org/drawingml/2006/main">
            <a:off x="6153150" y="1609725"/>
            <a:ext cx="5524500" cy="4152900"/>
          </a:xfrm>
          <a:prstGeom xmlns:a="http://schemas.openxmlformats.org/drawingml/2006/main" prst="roundRect">
            <a:avLst>
              <a:gd name="adj" fmla="val 3670"/>
            </a:avLst>
          </a:prstGeom>
          <a:solidFill xmlns:a="http://schemas.openxmlformats.org/drawingml/2006/main">
            <a:srgbClr val="171717"/>
          </a:solidFill>
          <a:ln xmlns:a="http://schemas.openxmlformats.org/drawingml/2006/main" w="9525">
            <a:solidFill>
              <a:srgbClr val="343840"/>
            </a:solidFill>
            <a:prstDash val="solid"/>
          </a:ln>
        </p:spPr>
      </p:sp>
      <p:sp>
        <p:nvSpPr>
          <p:cNvPr id="23" name="">
            <a:extLst xmlns:a="http://schemas.openxmlformats.org/drawingml/2006/main">
              <a:ext uri="{FF2B5EF4-FFF2-40B4-BE49-F238E27FC236}">
                <a16:creationId xmlns:a16="http://schemas.microsoft.com/office/drawing/2014/main" id="{DCDA60FE-3482-4862-ADCA-1217BF38326B}"/>
              </a:ext>
            </a:extLst>
          </p:cNvPr>
          <p:cNvSpPr>
            <a:spLocks xmlns:a="http://schemas.openxmlformats.org/drawingml/2006/main" noGrp="1"/>
          </p:cNvSpPr>
          <p:nvPr/>
        </p:nvSpPr>
        <p:spPr>
          <a:xfrm xmlns:a="http://schemas.openxmlformats.org/drawingml/2006/main">
            <a:off x="6419850" y="1876425"/>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FF9F1C"/>
                </a:solidFill>
                <a:latin typeface="Helvetica Neue"/>
                <a:ea typeface="Helvetica Neue"/>
                <a:cs typeface="Helvetica Neue"/>
              </a:defRPr>
            </a:pPr>
            <a:r>
              <a:rPr sz="1050" b="1">
                <a:solidFill>
                  <a:srgbClr val="FF9F1C"/>
                </a:solidFill>
                <a:latin typeface="Helvetica Neue"/>
                <a:ea typeface="Helvetica Neue"/>
                <a:cs typeface="Helvetica Neue"/>
              </a:rPr>
              <a:t>PROJECT EVIDENCE</a:t>
            </a:r>
          </a:p>
        </p:txBody>
      </p:sp>
      <p:sp>
        <p:nvSpPr>
          <p:cNvPr id="24" name="">
            <a:extLst xmlns:a="http://schemas.openxmlformats.org/drawingml/2006/main">
              <a:ext uri="{FF2B5EF4-FFF2-40B4-BE49-F238E27FC236}">
                <a16:creationId xmlns:a16="http://schemas.microsoft.com/office/drawing/2014/main" id="{48ADBFBA-8FBC-4C7C-9580-D068D983BA85}"/>
              </a:ext>
            </a:extLst>
          </p:cNvPr>
          <p:cNvSpPr>
            <a:spLocks xmlns:a="http://schemas.openxmlformats.org/drawingml/2006/main" noGrp="1"/>
          </p:cNvSpPr>
          <p:nvPr/>
        </p:nvSpPr>
        <p:spPr>
          <a:xfrm xmlns:a="http://schemas.openxmlformats.org/drawingml/2006/main">
            <a:off x="6419850" y="22764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8FAFC"/>
                </a:solidFill>
                <a:latin typeface="Helvetica Neue"/>
                <a:ea typeface="Helvetica Neue"/>
                <a:cs typeface="Helvetica Neue"/>
              </a:defRPr>
            </a:pPr>
            <a:r>
              <a:rPr sz="1725" b="1">
                <a:solidFill>
                  <a:srgbClr val="F8FAFC"/>
                </a:solidFill>
                <a:latin typeface="Helvetica Neue"/>
                <a:ea typeface="Helvetica Neue"/>
                <a:cs typeface="Helvetica Neue"/>
              </a:rPr>
              <a:t>Reproducible model artifacts</a:t>
            </a:r>
          </a:p>
        </p:txBody>
      </p:sp>
      <p:sp>
        <p:nvSpPr>
          <p:cNvPr id="25" name="">
            <a:extLst xmlns:a="http://schemas.openxmlformats.org/drawingml/2006/main">
              <a:ext uri="{FF2B5EF4-FFF2-40B4-BE49-F238E27FC236}">
                <a16:creationId xmlns:a16="http://schemas.microsoft.com/office/drawing/2014/main" id="{016D71DD-40F6-43D5-A46E-F293AFC01510}"/>
              </a:ext>
            </a:extLst>
          </p:cNvPr>
          <p:cNvSpPr>
            <a:spLocks xmlns:a="http://schemas.openxmlformats.org/drawingml/2006/main" noGrp="1"/>
          </p:cNvSpPr>
          <p:nvPr/>
        </p:nvSpPr>
        <p:spPr>
          <a:xfrm xmlns:a="http://schemas.openxmlformats.org/drawingml/2006/main">
            <a:off x="6419850" y="2638425"/>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A6AFBD"/>
                </a:solidFill>
                <a:latin typeface="Helvetica Neue"/>
                <a:ea typeface="Helvetica Neue"/>
                <a:cs typeface="Helvetica Neue"/>
              </a:defRPr>
            </a:pPr>
            <a:r>
              <a:rPr sz="1275" b="0">
                <a:solidFill>
                  <a:srgbClr val="A6AFBD"/>
                </a:solidFill>
                <a:latin typeface="Helvetica Neue"/>
                <a:ea typeface="Helvetica Neue"/>
                <a:cs typeface="Helvetica Neue"/>
              </a:rPr>
              <a:t>Model coefficients, scaler, calibration and checksum are saved in the repository.</a:t>
            </a:r>
          </a:p>
        </p:txBody>
      </p:sp>
      <p:sp>
        <p:nvSpPr>
          <p:cNvPr id="26" name="">
            <a:extLst xmlns:a="http://schemas.openxmlformats.org/drawingml/2006/main">
              <a:ext uri="{FF2B5EF4-FFF2-40B4-BE49-F238E27FC236}">
                <a16:creationId xmlns:a16="http://schemas.microsoft.com/office/drawing/2014/main" id="{CD0C6140-C207-4FBF-A3DD-497B8DE8EBC0}"/>
              </a:ext>
            </a:extLst>
          </p:cNvPr>
          <p:cNvSpPr>
            <a:spLocks xmlns:a="http://schemas.openxmlformats.org/drawingml/2006/main" noGrp="1"/>
          </p:cNvSpPr>
          <p:nvPr/>
        </p:nvSpPr>
        <p:spPr>
          <a:xfrm xmlns:a="http://schemas.openxmlformats.org/drawingml/2006/main">
            <a:off x="6419850" y="3305175"/>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8FAFC"/>
                </a:solidFill>
                <a:latin typeface="Helvetica Neue"/>
                <a:ea typeface="Helvetica Neue"/>
                <a:cs typeface="Helvetica Neue"/>
              </a:defRPr>
            </a:pPr>
            <a:r>
              <a:rPr sz="1725" b="1">
                <a:solidFill>
                  <a:srgbClr val="F8FAFC"/>
                </a:solidFill>
                <a:latin typeface="Helvetica Neue"/>
                <a:ea typeface="Helvetica Neue"/>
                <a:cs typeface="Helvetica Neue"/>
              </a:rPr>
              <a:t>Chronological validation</a:t>
            </a:r>
          </a:p>
        </p:txBody>
      </p:sp>
      <p:sp>
        <p:nvSpPr>
          <p:cNvPr id="27" name="">
            <a:extLst xmlns:a="http://schemas.openxmlformats.org/drawingml/2006/main">
              <a:ext uri="{FF2B5EF4-FFF2-40B4-BE49-F238E27FC236}">
                <a16:creationId xmlns:a16="http://schemas.microsoft.com/office/drawing/2014/main" id="{617A8678-D1D5-4619-A6AF-200EA9029F19}"/>
              </a:ext>
            </a:extLst>
          </p:cNvPr>
          <p:cNvSpPr>
            <a:spLocks xmlns:a="http://schemas.openxmlformats.org/drawingml/2006/main" noGrp="1"/>
          </p:cNvSpPr>
          <p:nvPr/>
        </p:nvSpPr>
        <p:spPr>
          <a:xfrm xmlns:a="http://schemas.openxmlformats.org/drawingml/2006/main">
            <a:off x="6419850" y="3676650"/>
            <a:ext cx="4857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34"/>
          </a:bodyPr>
          <a:lstStyle xmlns:a="http://schemas.openxmlformats.org/drawingml/2006/main"/>
          <a:p xmlns:a="http://schemas.openxmlformats.org/drawingml/2006/main">
            <a:pPr algn="l">
              <a:lnSpc>
                <a:spcPct val="115000"/>
              </a:lnSpc>
              <a:buNone/>
              <a:defRPr sz="1500" b="1">
                <a:solidFill>
                  <a:srgbClr val="F8FAFC"/>
                </a:solidFill>
                <a:latin typeface="Helvetica Neue"/>
                <a:ea typeface="Helvetica Neue"/>
                <a:cs typeface="Helvetica Neue"/>
              </a:defRPr>
            </a:pPr>
            <a:r>
              <a:rPr sz="1500" b="1">
                <a:solidFill>
                  <a:srgbClr val="F8FAFC"/>
                </a:solidFill>
                <a:latin typeface="Helvetica Neue"/>
                <a:ea typeface="Helvetica Neue"/>
                <a:cs typeface="Helvetica Neue"/>
              </a:rPr>
              <a:t>Train: 2022–2023</a:t>
            </a:r>
          </a:p>
          <a:p xmlns:a="http://schemas.openxmlformats.org/drawingml/2006/main">
            <a:pPr algn="l">
              <a:lnSpc>
                <a:spcPct val="115000"/>
              </a:lnSpc>
              <a:buNone/>
              <a:defRPr sz="1500" b="1">
                <a:solidFill>
                  <a:srgbClr val="F8FAFC"/>
                </a:solidFill>
                <a:latin typeface="Helvetica Neue"/>
                <a:ea typeface="Helvetica Neue"/>
                <a:cs typeface="Helvetica Neue"/>
              </a:defRPr>
            </a:pPr>
            <a:r>
              <a:rPr sz="1500" b="1">
                <a:solidFill>
                  <a:srgbClr val="F8FAFC"/>
                </a:solidFill>
                <a:latin typeface="Helvetica Neue"/>
                <a:ea typeface="Helvetica Neue"/>
                <a:cs typeface="Helvetica Neue"/>
              </a:rPr>
              <a:t>Calibrate: 2024</a:t>
            </a:r>
          </a:p>
          <a:p xmlns:a="http://schemas.openxmlformats.org/drawingml/2006/main">
            <a:pPr algn="l">
              <a:lnSpc>
                <a:spcPct val="115000"/>
              </a:lnSpc>
              <a:buNone/>
              <a:defRPr sz="1500" b="1">
                <a:solidFill>
                  <a:srgbClr val="F8FAFC"/>
                </a:solidFill>
                <a:latin typeface="Helvetica Neue"/>
                <a:ea typeface="Helvetica Neue"/>
                <a:cs typeface="Helvetica Neue"/>
              </a:defRPr>
            </a:pPr>
            <a:r>
              <a:rPr sz="1500" b="1">
                <a:solidFill>
                  <a:srgbClr val="F8FAFC"/>
                </a:solidFill>
                <a:latin typeface="Helvetica Neue"/>
                <a:ea typeface="Helvetica Neue"/>
                <a:cs typeface="Helvetica Neue"/>
              </a:rPr>
              <a:t>Test once: 2025</a:t>
            </a:r>
          </a:p>
        </p:txBody>
      </p:sp>
      <p:sp>
        <p:nvSpPr>
          <p:cNvPr id="28" name="">
            <a:extLst xmlns:a="http://schemas.openxmlformats.org/drawingml/2006/main">
              <a:ext uri="{FF2B5EF4-FFF2-40B4-BE49-F238E27FC236}">
                <a16:creationId xmlns:a16="http://schemas.microsoft.com/office/drawing/2014/main" id="{A5497ECB-B457-479F-9A23-F8A6C0CBE670}"/>
              </a:ext>
            </a:extLst>
          </p:cNvPr>
          <p:cNvSpPr>
            <a:spLocks xmlns:a="http://schemas.openxmlformats.org/drawingml/2006/main" noGrp="1"/>
          </p:cNvSpPr>
          <p:nvPr/>
        </p:nvSpPr>
        <p:spPr>
          <a:xfrm xmlns:a="http://schemas.openxmlformats.org/drawingml/2006/main">
            <a:off x="6419850" y="4743450"/>
            <a:ext cx="485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8FAFC"/>
                </a:solidFill>
                <a:latin typeface="Helvetica Neue"/>
                <a:ea typeface="Helvetica Neue"/>
                <a:cs typeface="Helvetica Neue"/>
              </a:defRPr>
            </a:pPr>
            <a:r>
              <a:rPr sz="1725" b="1">
                <a:solidFill>
                  <a:srgbClr val="F8FAFC"/>
                </a:solidFill>
                <a:latin typeface="Helvetica Neue"/>
                <a:ea typeface="Helvetica Neue"/>
                <a:cs typeface="Helvetica Neue"/>
              </a:rPr>
              <a:t>Public prototype</a:t>
            </a:r>
          </a:p>
        </p:txBody>
      </p:sp>
      <p:sp>
        <p:nvSpPr>
          <p:cNvPr id="29" name="">
            <a:extLst xmlns:a="http://schemas.openxmlformats.org/drawingml/2006/main">
              <a:ext uri="{FF2B5EF4-FFF2-40B4-BE49-F238E27FC236}">
                <a16:creationId xmlns:a16="http://schemas.microsoft.com/office/drawing/2014/main" id="{CC6DA1A1-8D45-4491-A141-1236151BD309}"/>
              </a:ext>
            </a:extLst>
          </p:cNvPr>
          <p:cNvSpPr>
            <a:spLocks xmlns:a="http://schemas.openxmlformats.org/drawingml/2006/main" noGrp="1"/>
          </p:cNvSpPr>
          <p:nvPr/>
        </p:nvSpPr>
        <p:spPr>
          <a:xfrm xmlns:a="http://schemas.openxmlformats.org/drawingml/2006/main">
            <a:off x="6419850" y="5133975"/>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1">
                <a:solidFill>
                  <a:srgbClr val="20C878"/>
                </a:solidFill>
                <a:latin typeface="Helvetica Neue"/>
                <a:ea typeface="Helvetica Neue"/>
                <a:cs typeface="Helvetica Neue"/>
              </a:defRPr>
            </a:pPr>
            <a:r>
              <a:rPr sz="1275" b="1">
                <a:solidFill>
                  <a:srgbClr val="20C878"/>
                </a:solidFill>
                <a:latin typeface="Helvetica Neue"/>
                <a:ea typeface="Helvetica Neue"/>
                <a:cs typeface="Helvetica Neue"/>
              </a:rPr>
              <a:t>https://thermowatch-sih26083.vercel.app</a:t>
            </a:r>
          </a:p>
        </p:txBody>
      </p:sp>
      <p:sp>
        <p:nvSpPr>
          <p:cNvPr id="30" name="">
            <a:extLst xmlns:a="http://schemas.openxmlformats.org/drawingml/2006/main">
              <a:ext uri="{FF2B5EF4-FFF2-40B4-BE49-F238E27FC236}">
                <a16:creationId xmlns:a16="http://schemas.microsoft.com/office/drawing/2014/main" id="{C6D99C3C-9374-4F3E-A1E0-339D42ADFF3B}"/>
              </a:ext>
            </a:extLst>
          </p:cNvPr>
          <p:cNvSpPr>
            <a:spLocks xmlns:a="http://schemas.openxmlformats.org/drawingml/2006/main" noGrp="1"/>
          </p:cNvSpPr>
          <p:nvPr/>
        </p:nvSpPr>
        <p:spPr>
          <a:xfrm xmlns:a="http://schemas.openxmlformats.org/drawingml/2006/main">
            <a:off x="514350" y="6105525"/>
            <a:ext cx="11163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200" b="0">
                <a:solidFill>
                  <a:srgbClr val="FFD166"/>
                </a:solidFill>
                <a:latin typeface="Helvetica Neue"/>
                <a:ea typeface="Helvetica Neue"/>
                <a:cs typeface="Helvetica Neue"/>
              </a:defRPr>
            </a:pPr>
            <a:r>
              <a:rPr sz="1200" b="0">
                <a:solidFill>
                  <a:srgbClr val="FFD166"/>
                </a:solidFill>
                <a:latin typeface="Helvetica Neue"/>
                <a:ea typeface="Helvetica Neue"/>
                <a:cs typeface="Helvetica Neue"/>
              </a:rPr>
              <a:t>Limitation: historical labels are HTSI-derived proxies, not verified IMD events or health outcomes.</a:t>
            </a:r>
          </a:p>
        </p:txBody>
      </p:sp>
    </p:spTree>
    <p:extLst>
      <p:ext uri="{BB962C8B-B14F-4D97-AF65-F5344CB8AC3E}">
        <p14:creationId xmlns:p14="http://schemas.microsoft.com/office/powerpoint/2010/main" val="329854879"/>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2026-09-10T15:39:26.0860000Z</dcterms:created>
  <dcterms:modified xsi:type="dcterms:W3CDTF">2026-09-10T15:39:26.0860000Z</dcterms:modified>
</coreProperties>
</file>